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roxima Nova Heavy" charset="1" panose="02000506030000020004"/>
      <p:regular r:id="rId17"/>
    </p:embeddedFont>
    <p:embeddedFont>
      <p:font typeface="Proxima Nova Bold" charset="1" panose="02000506030000020004"/>
      <p:regular r:id="rId18"/>
    </p:embeddedFont>
    <p:embeddedFont>
      <p:font typeface="Sprite Graffiti" charset="1" panose="00000500000000000000"/>
      <p:regular r:id="rId19"/>
    </p:embeddedFont>
    <p:embeddedFont>
      <p:font typeface="Proxima Nova Heavy Italics" charset="1" panose="02000506030000020004"/>
      <p:regular r:id="rId20"/>
    </p:embeddedFont>
    <p:embeddedFont>
      <p:font typeface="Proxima Nova Bold Italics" charset="1" panose="020005060300000200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 Id="rId9"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gif" Type="http://schemas.openxmlformats.org/officeDocument/2006/relationships/image"/><Relationship Id="rId2" Target="../media/image19.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459" t="-630" r="-11425" b="-32015"/>
            </a:stretch>
          </a:blipFill>
        </p:spPr>
      </p:sp>
      <p:grpSp>
        <p:nvGrpSpPr>
          <p:cNvPr name="Group 3" id="3"/>
          <p:cNvGrpSpPr/>
          <p:nvPr/>
        </p:nvGrpSpPr>
        <p:grpSpPr>
          <a:xfrm rot="0">
            <a:off x="-158456" y="-367399"/>
            <a:ext cx="13041477" cy="11238567"/>
            <a:chOff x="0" y="0"/>
            <a:chExt cx="3434792" cy="2959952"/>
          </a:xfrm>
        </p:grpSpPr>
        <p:sp>
          <p:nvSpPr>
            <p:cNvPr name="Freeform 4" id="4"/>
            <p:cNvSpPr/>
            <p:nvPr/>
          </p:nvSpPr>
          <p:spPr>
            <a:xfrm flipH="false" flipV="false" rot="0">
              <a:off x="0" y="0"/>
              <a:ext cx="3434792" cy="2959952"/>
            </a:xfrm>
            <a:custGeom>
              <a:avLst/>
              <a:gdLst/>
              <a:ahLst/>
              <a:cxnLst/>
              <a:rect r="r" b="b" t="t" l="l"/>
              <a:pathLst>
                <a:path h="2959952" w="3434792">
                  <a:moveTo>
                    <a:pt x="0" y="0"/>
                  </a:moveTo>
                  <a:lnTo>
                    <a:pt x="3434792" y="0"/>
                  </a:lnTo>
                  <a:lnTo>
                    <a:pt x="3434792" y="2959952"/>
                  </a:lnTo>
                  <a:lnTo>
                    <a:pt x="0" y="2959952"/>
                  </a:lnTo>
                  <a:close/>
                </a:path>
              </a:pathLst>
            </a:custGeom>
            <a:gradFill rotWithShape="true">
              <a:gsLst>
                <a:gs pos="0">
                  <a:srgbClr val="002772">
                    <a:alpha val="100000"/>
                  </a:srgbClr>
                </a:gs>
                <a:gs pos="50000">
                  <a:srgbClr val="042B75">
                    <a:alpha val="100000"/>
                  </a:srgbClr>
                </a:gs>
                <a:gs pos="100000">
                  <a:srgbClr val="002872">
                    <a:alpha val="0"/>
                  </a:srgbClr>
                </a:gs>
              </a:gsLst>
              <a:lin ang="0"/>
            </a:gradFill>
          </p:spPr>
        </p:sp>
        <p:sp>
          <p:nvSpPr>
            <p:cNvPr name="TextBox 5" id="5"/>
            <p:cNvSpPr txBox="true"/>
            <p:nvPr/>
          </p:nvSpPr>
          <p:spPr>
            <a:xfrm>
              <a:off x="0" y="-38100"/>
              <a:ext cx="3434792" cy="299805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04071" y="3524974"/>
            <a:ext cx="438110" cy="1780314"/>
            <a:chOff x="0" y="0"/>
            <a:chExt cx="115387" cy="468889"/>
          </a:xfrm>
        </p:grpSpPr>
        <p:sp>
          <p:nvSpPr>
            <p:cNvPr name="Freeform 7" id="7"/>
            <p:cNvSpPr/>
            <p:nvPr/>
          </p:nvSpPr>
          <p:spPr>
            <a:xfrm flipH="false" flipV="false" rot="0">
              <a:off x="0" y="0"/>
              <a:ext cx="115387" cy="468889"/>
            </a:xfrm>
            <a:custGeom>
              <a:avLst/>
              <a:gdLst/>
              <a:ahLst/>
              <a:cxnLst/>
              <a:rect r="r" b="b" t="t" l="l"/>
              <a:pathLst>
                <a:path h="468889" w="115387">
                  <a:moveTo>
                    <a:pt x="0" y="0"/>
                  </a:moveTo>
                  <a:lnTo>
                    <a:pt x="115387" y="0"/>
                  </a:lnTo>
                  <a:lnTo>
                    <a:pt x="115387" y="468889"/>
                  </a:lnTo>
                  <a:lnTo>
                    <a:pt x="0" y="468889"/>
                  </a:lnTo>
                  <a:close/>
                </a:path>
              </a:pathLst>
            </a:custGeom>
            <a:gradFill rotWithShape="true">
              <a:gsLst>
                <a:gs pos="0">
                  <a:srgbClr val="235BBB">
                    <a:alpha val="100000"/>
                  </a:srgbClr>
                </a:gs>
                <a:gs pos="100000">
                  <a:srgbClr val="347FFF">
                    <a:alpha val="100000"/>
                  </a:srgbClr>
                </a:gs>
              </a:gsLst>
              <a:lin ang="5400000"/>
            </a:gradFill>
          </p:spPr>
        </p:sp>
        <p:sp>
          <p:nvSpPr>
            <p:cNvPr name="TextBox 8" id="8"/>
            <p:cNvSpPr txBox="true"/>
            <p:nvPr/>
          </p:nvSpPr>
          <p:spPr>
            <a:xfrm>
              <a:off x="0" y="-38100"/>
              <a:ext cx="115387" cy="50698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361715" y="3524974"/>
            <a:ext cx="666985" cy="1780314"/>
            <a:chOff x="0" y="0"/>
            <a:chExt cx="175667" cy="468889"/>
          </a:xfrm>
        </p:grpSpPr>
        <p:sp>
          <p:nvSpPr>
            <p:cNvPr name="Freeform 10" id="10"/>
            <p:cNvSpPr/>
            <p:nvPr/>
          </p:nvSpPr>
          <p:spPr>
            <a:xfrm flipH="false" flipV="false" rot="0">
              <a:off x="0" y="0"/>
              <a:ext cx="175667" cy="468889"/>
            </a:xfrm>
            <a:custGeom>
              <a:avLst/>
              <a:gdLst/>
              <a:ahLst/>
              <a:cxnLst/>
              <a:rect r="r" b="b" t="t" l="l"/>
              <a:pathLst>
                <a:path h="468889" w="175667">
                  <a:moveTo>
                    <a:pt x="0" y="0"/>
                  </a:moveTo>
                  <a:lnTo>
                    <a:pt x="175667" y="0"/>
                  </a:lnTo>
                  <a:lnTo>
                    <a:pt x="175667" y="468889"/>
                  </a:lnTo>
                  <a:lnTo>
                    <a:pt x="0" y="468889"/>
                  </a:lnTo>
                  <a:close/>
                </a:path>
              </a:pathLst>
            </a:custGeom>
            <a:gradFill rotWithShape="true">
              <a:gsLst>
                <a:gs pos="0">
                  <a:srgbClr val="C08846">
                    <a:alpha val="100000"/>
                  </a:srgbClr>
                </a:gs>
                <a:gs pos="100000">
                  <a:srgbClr val="FFC87B">
                    <a:alpha val="100000"/>
                  </a:srgbClr>
                </a:gs>
              </a:gsLst>
              <a:lin ang="5400000"/>
            </a:gradFill>
          </p:spPr>
        </p:sp>
        <p:sp>
          <p:nvSpPr>
            <p:cNvPr name="TextBox 11" id="11"/>
            <p:cNvSpPr txBox="true"/>
            <p:nvPr/>
          </p:nvSpPr>
          <p:spPr>
            <a:xfrm>
              <a:off x="0" y="-38100"/>
              <a:ext cx="175667" cy="50698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5790147" y="6628067"/>
            <a:ext cx="5218672" cy="2385976"/>
            <a:chOff x="0" y="0"/>
            <a:chExt cx="1317394" cy="602312"/>
          </a:xfrm>
        </p:grpSpPr>
        <p:sp>
          <p:nvSpPr>
            <p:cNvPr name="Freeform 13" id="13"/>
            <p:cNvSpPr/>
            <p:nvPr/>
          </p:nvSpPr>
          <p:spPr>
            <a:xfrm flipH="false" flipV="false" rot="0">
              <a:off x="0" y="0"/>
              <a:ext cx="1317394" cy="602312"/>
            </a:xfrm>
            <a:custGeom>
              <a:avLst/>
              <a:gdLst/>
              <a:ahLst/>
              <a:cxnLst/>
              <a:rect r="r" b="b" t="t" l="l"/>
              <a:pathLst>
                <a:path h="602312" w="1317394">
                  <a:moveTo>
                    <a:pt x="75659" y="0"/>
                  </a:moveTo>
                  <a:lnTo>
                    <a:pt x="1241736" y="0"/>
                  </a:lnTo>
                  <a:cubicBezTo>
                    <a:pt x="1283521" y="0"/>
                    <a:pt x="1317394" y="33874"/>
                    <a:pt x="1317394" y="75659"/>
                  </a:cubicBezTo>
                  <a:lnTo>
                    <a:pt x="1317394" y="526654"/>
                  </a:lnTo>
                  <a:cubicBezTo>
                    <a:pt x="1317394" y="568439"/>
                    <a:pt x="1283521" y="602312"/>
                    <a:pt x="1241736" y="602312"/>
                  </a:cubicBezTo>
                  <a:lnTo>
                    <a:pt x="75659" y="602312"/>
                  </a:lnTo>
                  <a:cubicBezTo>
                    <a:pt x="33874" y="602312"/>
                    <a:pt x="0" y="568439"/>
                    <a:pt x="0" y="526654"/>
                  </a:cubicBezTo>
                  <a:lnTo>
                    <a:pt x="0" y="75659"/>
                  </a:lnTo>
                  <a:cubicBezTo>
                    <a:pt x="0" y="33874"/>
                    <a:pt x="33874" y="0"/>
                    <a:pt x="75659" y="0"/>
                  </a:cubicBezTo>
                  <a:close/>
                </a:path>
              </a:pathLst>
            </a:custGeom>
            <a:gradFill rotWithShape="true">
              <a:gsLst>
                <a:gs pos="0">
                  <a:srgbClr val="C08846">
                    <a:alpha val="100000"/>
                  </a:srgbClr>
                </a:gs>
                <a:gs pos="100000">
                  <a:srgbClr val="FFC87B">
                    <a:alpha val="100000"/>
                  </a:srgbClr>
                </a:gs>
              </a:gsLst>
              <a:lin ang="5400000"/>
            </a:gradFill>
            <a:ln cap="rnd">
              <a:noFill/>
              <a:prstDash val="solid"/>
              <a:round/>
            </a:ln>
          </p:spPr>
        </p:sp>
        <p:sp>
          <p:nvSpPr>
            <p:cNvPr name="TextBox 14" id="14"/>
            <p:cNvSpPr txBox="true"/>
            <p:nvPr/>
          </p:nvSpPr>
          <p:spPr>
            <a:xfrm>
              <a:off x="0" y="-38100"/>
              <a:ext cx="1317394" cy="64041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361715" y="6628067"/>
            <a:ext cx="5199668" cy="929728"/>
            <a:chOff x="0" y="0"/>
            <a:chExt cx="1312597" cy="234699"/>
          </a:xfrm>
        </p:grpSpPr>
        <p:sp>
          <p:nvSpPr>
            <p:cNvPr name="Freeform 16" id="16"/>
            <p:cNvSpPr/>
            <p:nvPr/>
          </p:nvSpPr>
          <p:spPr>
            <a:xfrm flipH="false" flipV="false" rot="0">
              <a:off x="0" y="0"/>
              <a:ext cx="1312597" cy="234699"/>
            </a:xfrm>
            <a:custGeom>
              <a:avLst/>
              <a:gdLst/>
              <a:ahLst/>
              <a:cxnLst/>
              <a:rect r="r" b="b" t="t" l="l"/>
              <a:pathLst>
                <a:path h="234699" w="1312597">
                  <a:moveTo>
                    <a:pt x="75935" y="0"/>
                  </a:moveTo>
                  <a:lnTo>
                    <a:pt x="1236662" y="0"/>
                  </a:lnTo>
                  <a:cubicBezTo>
                    <a:pt x="1256801" y="0"/>
                    <a:pt x="1276115" y="8000"/>
                    <a:pt x="1290356" y="22241"/>
                  </a:cubicBezTo>
                  <a:cubicBezTo>
                    <a:pt x="1304596" y="36482"/>
                    <a:pt x="1312597" y="55796"/>
                    <a:pt x="1312597" y="75935"/>
                  </a:cubicBezTo>
                  <a:lnTo>
                    <a:pt x="1312597" y="158764"/>
                  </a:lnTo>
                  <a:cubicBezTo>
                    <a:pt x="1312597" y="178903"/>
                    <a:pt x="1304596" y="198218"/>
                    <a:pt x="1290356" y="212458"/>
                  </a:cubicBezTo>
                  <a:cubicBezTo>
                    <a:pt x="1276115" y="226699"/>
                    <a:pt x="1256801" y="234699"/>
                    <a:pt x="1236662" y="234699"/>
                  </a:cubicBezTo>
                  <a:lnTo>
                    <a:pt x="75935" y="234699"/>
                  </a:lnTo>
                  <a:cubicBezTo>
                    <a:pt x="55796" y="234699"/>
                    <a:pt x="36482" y="226699"/>
                    <a:pt x="22241" y="212458"/>
                  </a:cubicBezTo>
                  <a:cubicBezTo>
                    <a:pt x="8000" y="198218"/>
                    <a:pt x="0" y="178903"/>
                    <a:pt x="0" y="158764"/>
                  </a:cubicBezTo>
                  <a:lnTo>
                    <a:pt x="0" y="75935"/>
                  </a:lnTo>
                  <a:cubicBezTo>
                    <a:pt x="0" y="55796"/>
                    <a:pt x="8000" y="36482"/>
                    <a:pt x="22241" y="22241"/>
                  </a:cubicBezTo>
                  <a:cubicBezTo>
                    <a:pt x="36482" y="8000"/>
                    <a:pt x="55796" y="0"/>
                    <a:pt x="75935" y="0"/>
                  </a:cubicBezTo>
                  <a:close/>
                </a:path>
              </a:pathLst>
            </a:custGeom>
            <a:gradFill rotWithShape="true">
              <a:gsLst>
                <a:gs pos="0">
                  <a:srgbClr val="235BBB">
                    <a:alpha val="100000"/>
                  </a:srgbClr>
                </a:gs>
                <a:gs pos="100000">
                  <a:srgbClr val="347FFF">
                    <a:alpha val="100000"/>
                  </a:srgbClr>
                </a:gs>
              </a:gsLst>
              <a:lin ang="5400000"/>
            </a:gradFill>
            <a:ln cap="rnd">
              <a:noFill/>
              <a:prstDash val="solid"/>
              <a:round/>
            </a:ln>
          </p:spPr>
        </p:sp>
        <p:sp>
          <p:nvSpPr>
            <p:cNvPr name="TextBox 17" id="17"/>
            <p:cNvSpPr txBox="true"/>
            <p:nvPr/>
          </p:nvSpPr>
          <p:spPr>
            <a:xfrm>
              <a:off x="0" y="-38100"/>
              <a:ext cx="1312597" cy="272799"/>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2883021" y="0"/>
            <a:ext cx="5367543" cy="1720968"/>
          </a:xfrm>
          <a:custGeom>
            <a:avLst/>
            <a:gdLst/>
            <a:ahLst/>
            <a:cxnLst/>
            <a:rect r="r" b="b" t="t" l="l"/>
            <a:pathLst>
              <a:path h="1720968" w="5367543">
                <a:moveTo>
                  <a:pt x="0" y="0"/>
                </a:moveTo>
                <a:lnTo>
                  <a:pt x="5367542" y="0"/>
                </a:lnTo>
                <a:lnTo>
                  <a:pt x="5367542" y="1720968"/>
                </a:lnTo>
                <a:lnTo>
                  <a:pt x="0" y="1720968"/>
                </a:lnTo>
                <a:lnTo>
                  <a:pt x="0" y="0"/>
                </a:lnTo>
                <a:close/>
              </a:path>
            </a:pathLst>
          </a:custGeom>
          <a:blipFill>
            <a:blip r:embed="rId3"/>
            <a:stretch>
              <a:fillRect l="0" t="0" r="0" b="0"/>
            </a:stretch>
          </a:blipFill>
        </p:spPr>
      </p:sp>
      <p:sp>
        <p:nvSpPr>
          <p:cNvPr name="TextBox 19" id="19"/>
          <p:cNvSpPr txBox="true"/>
          <p:nvPr/>
        </p:nvSpPr>
        <p:spPr>
          <a:xfrm rot="0">
            <a:off x="1538578" y="3060274"/>
            <a:ext cx="9470241" cy="2871470"/>
          </a:xfrm>
          <a:prstGeom prst="rect">
            <a:avLst/>
          </a:prstGeom>
        </p:spPr>
        <p:txBody>
          <a:bodyPr anchor="t" rtlCol="false" tIns="0" lIns="0" bIns="0" rIns="0">
            <a:spAutoFit/>
          </a:bodyPr>
          <a:lstStyle/>
          <a:p>
            <a:pPr algn="l">
              <a:lnSpc>
                <a:spcPts val="7540"/>
              </a:lnSpc>
            </a:pPr>
            <a:r>
              <a:rPr lang="en-US" b="true" sz="6500">
                <a:solidFill>
                  <a:srgbClr val="FFFFFF"/>
                </a:solidFill>
                <a:latin typeface="Proxima Nova Heavy"/>
                <a:ea typeface="Proxima Nova Heavy"/>
                <a:cs typeface="Proxima Nova Heavy"/>
                <a:sym typeface="Proxima Nova Heavy"/>
              </a:rPr>
              <a:t>XÁC THỰC SINH TRẮC HỌC TRÊN THIẾT BỊ DI ĐỘNG</a:t>
            </a:r>
          </a:p>
        </p:txBody>
      </p:sp>
      <p:sp>
        <p:nvSpPr>
          <p:cNvPr name="TextBox 20" id="20"/>
          <p:cNvSpPr txBox="true"/>
          <p:nvPr/>
        </p:nvSpPr>
        <p:spPr>
          <a:xfrm rot="0">
            <a:off x="695208" y="6946660"/>
            <a:ext cx="1206119" cy="384733"/>
          </a:xfrm>
          <a:prstGeom prst="rect">
            <a:avLst/>
          </a:prstGeom>
        </p:spPr>
        <p:txBody>
          <a:bodyPr anchor="t" rtlCol="false" tIns="0" lIns="0" bIns="0" rIns="0">
            <a:spAutoFit/>
          </a:bodyPr>
          <a:lstStyle/>
          <a:p>
            <a:pPr algn="l">
              <a:lnSpc>
                <a:spcPts val="3027"/>
              </a:lnSpc>
            </a:pPr>
            <a:r>
              <a:rPr lang="en-US" b="true" sz="2609">
                <a:solidFill>
                  <a:srgbClr val="F5FCFF"/>
                </a:solidFill>
                <a:latin typeface="Proxima Nova Bold"/>
                <a:ea typeface="Proxima Nova Bold"/>
                <a:cs typeface="Proxima Nova Bold"/>
                <a:sym typeface="Proxima Nova Bold"/>
              </a:rPr>
              <a:t>GVHD:</a:t>
            </a:r>
          </a:p>
        </p:txBody>
      </p:sp>
      <p:sp>
        <p:nvSpPr>
          <p:cNvPr name="TextBox 21" id="21"/>
          <p:cNvSpPr txBox="true"/>
          <p:nvPr/>
        </p:nvSpPr>
        <p:spPr>
          <a:xfrm rot="0">
            <a:off x="6124611" y="6946660"/>
            <a:ext cx="1395835" cy="384733"/>
          </a:xfrm>
          <a:prstGeom prst="rect">
            <a:avLst/>
          </a:prstGeom>
        </p:spPr>
        <p:txBody>
          <a:bodyPr anchor="t" rtlCol="false" tIns="0" lIns="0" bIns="0" rIns="0">
            <a:spAutoFit/>
          </a:bodyPr>
          <a:lstStyle/>
          <a:p>
            <a:pPr algn="l">
              <a:lnSpc>
                <a:spcPts val="3027"/>
              </a:lnSpc>
            </a:pPr>
            <a:r>
              <a:rPr lang="en-US" b="true" sz="2609">
                <a:solidFill>
                  <a:srgbClr val="F5FCFF"/>
                </a:solidFill>
                <a:latin typeface="Proxima Nova Bold"/>
                <a:ea typeface="Proxima Nova Bold"/>
                <a:cs typeface="Proxima Nova Bold"/>
                <a:sym typeface="Proxima Nova Bold"/>
              </a:rPr>
              <a:t>Tên SV :</a:t>
            </a:r>
          </a:p>
        </p:txBody>
      </p:sp>
      <p:sp>
        <p:nvSpPr>
          <p:cNvPr name="TextBox 22" id="22"/>
          <p:cNvSpPr txBox="true"/>
          <p:nvPr/>
        </p:nvSpPr>
        <p:spPr>
          <a:xfrm rot="0">
            <a:off x="1901327" y="6917119"/>
            <a:ext cx="3660057" cy="414274"/>
          </a:xfrm>
          <a:prstGeom prst="rect">
            <a:avLst/>
          </a:prstGeom>
        </p:spPr>
        <p:txBody>
          <a:bodyPr anchor="t" rtlCol="false" tIns="0" lIns="0" bIns="0" rIns="0">
            <a:spAutoFit/>
          </a:bodyPr>
          <a:lstStyle/>
          <a:p>
            <a:pPr algn="l">
              <a:lnSpc>
                <a:spcPts val="3248"/>
              </a:lnSpc>
            </a:pPr>
            <a:r>
              <a:rPr lang="en-US" b="true" sz="2800">
                <a:solidFill>
                  <a:srgbClr val="F5FCFF"/>
                </a:solidFill>
                <a:latin typeface="Proxima Nova Heavy"/>
                <a:ea typeface="Proxima Nova Heavy"/>
                <a:cs typeface="Proxima Nova Heavy"/>
                <a:sym typeface="Proxima Nova Heavy"/>
              </a:rPr>
              <a:t>Nguyễn Mạnh Hùng</a:t>
            </a:r>
          </a:p>
        </p:txBody>
      </p:sp>
      <p:sp>
        <p:nvSpPr>
          <p:cNvPr name="TextBox 23" id="23"/>
          <p:cNvSpPr txBox="true"/>
          <p:nvPr/>
        </p:nvSpPr>
        <p:spPr>
          <a:xfrm rot="0">
            <a:off x="7520446" y="6946660"/>
            <a:ext cx="3488373" cy="1758315"/>
          </a:xfrm>
          <a:prstGeom prst="rect">
            <a:avLst/>
          </a:prstGeom>
        </p:spPr>
        <p:txBody>
          <a:bodyPr anchor="t" rtlCol="false" tIns="0" lIns="0" bIns="0" rIns="0">
            <a:spAutoFit/>
          </a:bodyPr>
          <a:lstStyle/>
          <a:p>
            <a:pPr algn="l">
              <a:lnSpc>
                <a:spcPts val="3479"/>
              </a:lnSpc>
            </a:pPr>
            <a:r>
              <a:rPr lang="en-US" sz="3000" b="true">
                <a:solidFill>
                  <a:srgbClr val="F5FCFF"/>
                </a:solidFill>
                <a:latin typeface="Proxima Nova Bold"/>
                <a:ea typeface="Proxima Nova Bold"/>
                <a:cs typeface="Proxima Nova Bold"/>
                <a:sym typeface="Proxima Nova Bold"/>
              </a:rPr>
              <a:t>Nguyễn</a:t>
            </a:r>
            <a:r>
              <a:rPr lang="en-US" sz="3000" b="true">
                <a:solidFill>
                  <a:srgbClr val="F5FCFF"/>
                </a:solidFill>
                <a:latin typeface="Proxima Nova Bold"/>
                <a:ea typeface="Proxima Nova Bold"/>
                <a:cs typeface="Proxima Nova Bold"/>
                <a:sym typeface="Proxima Nova Bold"/>
              </a:rPr>
              <a:t> Hữu Phúc</a:t>
            </a:r>
          </a:p>
          <a:p>
            <a:pPr algn="l">
              <a:lnSpc>
                <a:spcPts val="3479"/>
              </a:lnSpc>
            </a:pPr>
            <a:r>
              <a:rPr lang="en-US" sz="3000" b="true">
                <a:solidFill>
                  <a:srgbClr val="F5FCFF"/>
                </a:solidFill>
                <a:latin typeface="Proxima Nova Bold"/>
                <a:ea typeface="Proxima Nova Bold"/>
                <a:cs typeface="Proxima Nova Bold"/>
                <a:sym typeface="Proxima Nova Bold"/>
              </a:rPr>
              <a:t>Hồng Thắng Quân</a:t>
            </a:r>
          </a:p>
          <a:p>
            <a:pPr algn="l">
              <a:lnSpc>
                <a:spcPts val="3479"/>
              </a:lnSpc>
            </a:pPr>
            <a:r>
              <a:rPr lang="en-US" sz="3000" b="true">
                <a:solidFill>
                  <a:srgbClr val="F5FCFF"/>
                </a:solidFill>
                <a:latin typeface="Proxima Nova Bold"/>
                <a:ea typeface="Proxima Nova Bold"/>
                <a:cs typeface="Proxima Nova Bold"/>
                <a:sym typeface="Proxima Nova Bold"/>
              </a:rPr>
              <a:t>Tạ Thanh Mạnh</a:t>
            </a:r>
          </a:p>
          <a:p>
            <a:pPr algn="l">
              <a:lnSpc>
                <a:spcPts val="3479"/>
              </a:lnSpc>
            </a:pPr>
            <a:r>
              <a:rPr lang="en-US" b="true" sz="3000">
                <a:solidFill>
                  <a:srgbClr val="F5FCFF"/>
                </a:solidFill>
                <a:latin typeface="Proxima Nova Bold"/>
                <a:ea typeface="Proxima Nova Bold"/>
                <a:cs typeface="Proxima Nova Bold"/>
                <a:sym typeface="Proxima Nova Bold"/>
              </a:rPr>
              <a:t>Nguyễn Hoài An</a:t>
            </a:r>
          </a:p>
        </p:txBody>
      </p:sp>
      <p:sp>
        <p:nvSpPr>
          <p:cNvPr name="TextBox 24" id="24"/>
          <p:cNvSpPr txBox="true"/>
          <p:nvPr/>
        </p:nvSpPr>
        <p:spPr>
          <a:xfrm rot="608533">
            <a:off x="12429960" y="4272951"/>
            <a:ext cx="5062914" cy="1769228"/>
          </a:xfrm>
          <a:prstGeom prst="rect">
            <a:avLst/>
          </a:prstGeom>
        </p:spPr>
        <p:txBody>
          <a:bodyPr anchor="t" rtlCol="false" tIns="0" lIns="0" bIns="0" rIns="0">
            <a:spAutoFit/>
          </a:bodyPr>
          <a:lstStyle/>
          <a:p>
            <a:pPr algn="ctr">
              <a:lnSpc>
                <a:spcPts val="13805"/>
              </a:lnSpc>
            </a:pPr>
            <a:r>
              <a:rPr lang="en-US" sz="11900">
                <a:gradFill>
                  <a:gsLst>
                    <a:gs pos="0">
                      <a:srgbClr val="FFE4C2">
                        <a:alpha val="100000"/>
                      </a:srgbClr>
                    </a:gs>
                    <a:gs pos="100000">
                      <a:srgbClr val="87F8FF">
                        <a:alpha val="100000"/>
                      </a:srgbClr>
                    </a:gs>
                  </a:gsLst>
                  <a:lin ang="0"/>
                </a:gradFill>
                <a:latin typeface="Sprite Graffiti"/>
                <a:ea typeface="Sprite Graffiti"/>
                <a:cs typeface="Sprite Graffiti"/>
                <a:sym typeface="Sprite Graffiti"/>
              </a:rPr>
              <a:t>Nhóm 2</a:t>
            </a:r>
          </a:p>
        </p:txBody>
      </p:sp>
      <p:sp>
        <p:nvSpPr>
          <p:cNvPr name="TextBox 25" id="25"/>
          <p:cNvSpPr txBox="true"/>
          <p:nvPr/>
        </p:nvSpPr>
        <p:spPr>
          <a:xfrm rot="0">
            <a:off x="1538578" y="2048912"/>
            <a:ext cx="8381167" cy="679451"/>
          </a:xfrm>
          <a:prstGeom prst="rect">
            <a:avLst/>
          </a:prstGeom>
        </p:spPr>
        <p:txBody>
          <a:bodyPr anchor="t" rtlCol="false" tIns="0" lIns="0" bIns="0" rIns="0">
            <a:spAutoFit/>
          </a:bodyPr>
          <a:lstStyle/>
          <a:p>
            <a:pPr algn="ctr">
              <a:lnSpc>
                <a:spcPts val="5599"/>
              </a:lnSpc>
              <a:spcBef>
                <a:spcPct val="0"/>
              </a:spcBef>
            </a:pPr>
            <a:r>
              <a:rPr lang="en-US" b="true" sz="3999">
                <a:solidFill>
                  <a:srgbClr val="F5FCFF"/>
                </a:solidFill>
                <a:latin typeface="Proxima Nova Bold"/>
                <a:ea typeface="Proxima Nova Bold"/>
                <a:cs typeface="Proxima Nova Bold"/>
                <a:sym typeface="Proxima Nova Bold"/>
              </a:rPr>
              <a:t>LẬP TRÌNH TRÊN THIẾT BỊ DI ĐỘNG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189806" y="-1570622"/>
            <a:ext cx="18719200" cy="11857622"/>
          </a:xfrm>
          <a:custGeom>
            <a:avLst/>
            <a:gdLst/>
            <a:ahLst/>
            <a:cxnLst/>
            <a:rect r="r" b="b" t="t" l="l"/>
            <a:pathLst>
              <a:path h="11857622" w="18719200">
                <a:moveTo>
                  <a:pt x="0" y="0"/>
                </a:moveTo>
                <a:lnTo>
                  <a:pt x="18719200" y="0"/>
                </a:lnTo>
                <a:lnTo>
                  <a:pt x="18719200" y="11857622"/>
                </a:lnTo>
                <a:lnTo>
                  <a:pt x="0" y="11857622"/>
                </a:lnTo>
                <a:lnTo>
                  <a:pt x="0" y="0"/>
                </a:lnTo>
                <a:close/>
              </a:path>
            </a:pathLst>
          </a:custGeom>
          <a:blipFill>
            <a:blip r:embed="rId2"/>
            <a:stretch>
              <a:fillRect l="0" t="0" r="0" b="-5277"/>
            </a:stretch>
          </a:blipFill>
        </p:spPr>
      </p:sp>
      <p:grpSp>
        <p:nvGrpSpPr>
          <p:cNvPr name="Group 3" id="3"/>
          <p:cNvGrpSpPr/>
          <p:nvPr/>
        </p:nvGrpSpPr>
        <p:grpSpPr>
          <a:xfrm rot="0">
            <a:off x="-189806" y="-202673"/>
            <a:ext cx="18719200" cy="1431252"/>
            <a:chOff x="0" y="0"/>
            <a:chExt cx="4930160" cy="376955"/>
          </a:xfrm>
        </p:grpSpPr>
        <p:sp>
          <p:nvSpPr>
            <p:cNvPr name="Freeform 4" id="4"/>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5" id="5"/>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023599" y="5767249"/>
            <a:ext cx="6292390" cy="5411456"/>
          </a:xfrm>
          <a:custGeom>
            <a:avLst/>
            <a:gdLst/>
            <a:ahLst/>
            <a:cxnLst/>
            <a:rect r="r" b="b" t="t" l="l"/>
            <a:pathLst>
              <a:path h="5411456" w="6292390">
                <a:moveTo>
                  <a:pt x="0" y="0"/>
                </a:moveTo>
                <a:lnTo>
                  <a:pt x="6292390" y="0"/>
                </a:lnTo>
                <a:lnTo>
                  <a:pt x="6292390" y="5411456"/>
                </a:lnTo>
                <a:lnTo>
                  <a:pt x="0" y="54114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405073" y="1589608"/>
            <a:ext cx="8737678" cy="5421002"/>
            <a:chOff x="0" y="0"/>
            <a:chExt cx="2301281" cy="1427754"/>
          </a:xfrm>
        </p:grpSpPr>
        <p:sp>
          <p:nvSpPr>
            <p:cNvPr name="Freeform 8" id="8"/>
            <p:cNvSpPr/>
            <p:nvPr/>
          </p:nvSpPr>
          <p:spPr>
            <a:xfrm flipH="false" flipV="false" rot="0">
              <a:off x="0" y="0"/>
              <a:ext cx="2301281" cy="1427754"/>
            </a:xfrm>
            <a:custGeom>
              <a:avLst/>
              <a:gdLst/>
              <a:ahLst/>
              <a:cxnLst/>
              <a:rect r="r" b="b" t="t" l="l"/>
              <a:pathLst>
                <a:path h="1427754" w="2301281">
                  <a:moveTo>
                    <a:pt x="45188" y="0"/>
                  </a:moveTo>
                  <a:lnTo>
                    <a:pt x="2256093" y="0"/>
                  </a:lnTo>
                  <a:cubicBezTo>
                    <a:pt x="2268078" y="0"/>
                    <a:pt x="2279572" y="4761"/>
                    <a:pt x="2288046" y="13235"/>
                  </a:cubicBezTo>
                  <a:cubicBezTo>
                    <a:pt x="2296520" y="21710"/>
                    <a:pt x="2301281" y="33203"/>
                    <a:pt x="2301281" y="45188"/>
                  </a:cubicBezTo>
                  <a:lnTo>
                    <a:pt x="2301281" y="1382566"/>
                  </a:lnTo>
                  <a:cubicBezTo>
                    <a:pt x="2301281" y="1394550"/>
                    <a:pt x="2296520" y="1406044"/>
                    <a:pt x="2288046" y="1414519"/>
                  </a:cubicBezTo>
                  <a:cubicBezTo>
                    <a:pt x="2279572" y="1422993"/>
                    <a:pt x="2268078" y="1427754"/>
                    <a:pt x="2256093" y="1427754"/>
                  </a:cubicBezTo>
                  <a:lnTo>
                    <a:pt x="45188" y="1427754"/>
                  </a:lnTo>
                  <a:cubicBezTo>
                    <a:pt x="20231" y="1427754"/>
                    <a:pt x="0" y="1407522"/>
                    <a:pt x="0" y="1382566"/>
                  </a:cubicBezTo>
                  <a:lnTo>
                    <a:pt x="0" y="45188"/>
                  </a:lnTo>
                  <a:cubicBezTo>
                    <a:pt x="0" y="20231"/>
                    <a:pt x="20231" y="0"/>
                    <a:pt x="45188" y="0"/>
                  </a:cubicBezTo>
                  <a:close/>
                </a:path>
              </a:pathLst>
            </a:custGeom>
            <a:gradFill rotWithShape="true">
              <a:gsLst>
                <a:gs pos="0">
                  <a:srgbClr val="235BBB">
                    <a:alpha val="100000"/>
                  </a:srgbClr>
                </a:gs>
                <a:gs pos="100000">
                  <a:srgbClr val="347FFF">
                    <a:alpha val="100000"/>
                  </a:srgbClr>
                </a:gs>
              </a:gsLst>
              <a:lin ang="5400000"/>
            </a:gradFill>
            <a:ln w="38100" cap="rnd">
              <a:solidFill>
                <a:srgbClr val="FFFFFF"/>
              </a:solidFill>
              <a:prstDash val="solid"/>
              <a:round/>
            </a:ln>
          </p:spPr>
        </p:sp>
        <p:sp>
          <p:nvSpPr>
            <p:cNvPr name="TextBox 9" id="9"/>
            <p:cNvSpPr txBox="true"/>
            <p:nvPr/>
          </p:nvSpPr>
          <p:spPr>
            <a:xfrm>
              <a:off x="0" y="-38100"/>
              <a:ext cx="2301281" cy="1465854"/>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525976" y="4595364"/>
            <a:ext cx="7504715" cy="5471750"/>
            <a:chOff x="0" y="0"/>
            <a:chExt cx="1557031" cy="1135244"/>
          </a:xfrm>
        </p:grpSpPr>
        <p:sp>
          <p:nvSpPr>
            <p:cNvPr name="Freeform 11" id="11"/>
            <p:cNvSpPr/>
            <p:nvPr/>
          </p:nvSpPr>
          <p:spPr>
            <a:xfrm flipH="false" flipV="false" rot="0">
              <a:off x="0" y="0"/>
              <a:ext cx="1557031" cy="1135244"/>
            </a:xfrm>
            <a:custGeom>
              <a:avLst/>
              <a:gdLst/>
              <a:ahLst/>
              <a:cxnLst/>
              <a:rect r="r" b="b" t="t" l="l"/>
              <a:pathLst>
                <a:path h="1135244" w="1557031">
                  <a:moveTo>
                    <a:pt x="52612" y="0"/>
                  </a:moveTo>
                  <a:lnTo>
                    <a:pt x="1504419" y="0"/>
                  </a:lnTo>
                  <a:cubicBezTo>
                    <a:pt x="1533476" y="0"/>
                    <a:pt x="1557031" y="23555"/>
                    <a:pt x="1557031" y="52612"/>
                  </a:cubicBezTo>
                  <a:lnTo>
                    <a:pt x="1557031" y="1082632"/>
                  </a:lnTo>
                  <a:cubicBezTo>
                    <a:pt x="1557031" y="1111689"/>
                    <a:pt x="1533476" y="1135244"/>
                    <a:pt x="1504419" y="1135244"/>
                  </a:cubicBezTo>
                  <a:lnTo>
                    <a:pt x="52612" y="1135244"/>
                  </a:lnTo>
                  <a:cubicBezTo>
                    <a:pt x="23555" y="1135244"/>
                    <a:pt x="0" y="1111689"/>
                    <a:pt x="0" y="1082632"/>
                  </a:cubicBezTo>
                  <a:lnTo>
                    <a:pt x="0" y="52612"/>
                  </a:lnTo>
                  <a:cubicBezTo>
                    <a:pt x="0" y="23555"/>
                    <a:pt x="23555" y="0"/>
                    <a:pt x="52612" y="0"/>
                  </a:cubicBezTo>
                  <a:close/>
                </a:path>
              </a:pathLst>
            </a:custGeom>
            <a:gradFill rotWithShape="true">
              <a:gsLst>
                <a:gs pos="0">
                  <a:srgbClr val="C08846">
                    <a:alpha val="100000"/>
                  </a:srgbClr>
                </a:gs>
                <a:gs pos="100000">
                  <a:srgbClr val="FFC87B">
                    <a:alpha val="100000"/>
                  </a:srgbClr>
                </a:gs>
              </a:gsLst>
              <a:lin ang="5400000"/>
            </a:gradFill>
            <a:ln w="38100" cap="rnd">
              <a:solidFill>
                <a:srgbClr val="FFFFFF"/>
              </a:solidFill>
              <a:prstDash val="solid"/>
              <a:round/>
            </a:ln>
          </p:spPr>
        </p:sp>
        <p:sp>
          <p:nvSpPr>
            <p:cNvPr name="TextBox 12" id="12"/>
            <p:cNvSpPr txBox="true"/>
            <p:nvPr/>
          </p:nvSpPr>
          <p:spPr>
            <a:xfrm>
              <a:off x="0" y="-38100"/>
              <a:ext cx="1557031" cy="1173344"/>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89806" y="439295"/>
            <a:ext cx="347972" cy="513715"/>
            <a:chOff x="0" y="0"/>
            <a:chExt cx="91647" cy="135299"/>
          </a:xfrm>
        </p:grpSpPr>
        <p:sp>
          <p:nvSpPr>
            <p:cNvPr name="Freeform 14" id="14"/>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15" id="15"/>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265152" y="439295"/>
            <a:ext cx="493718" cy="513715"/>
            <a:chOff x="0" y="0"/>
            <a:chExt cx="130033" cy="135299"/>
          </a:xfrm>
        </p:grpSpPr>
        <p:sp>
          <p:nvSpPr>
            <p:cNvPr name="Freeform 17" id="17"/>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8" id="18"/>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028700" y="363095"/>
            <a:ext cx="8850302" cy="646430"/>
          </a:xfrm>
          <a:prstGeom prst="rect">
            <a:avLst/>
          </a:prstGeom>
        </p:spPr>
        <p:txBody>
          <a:bodyPr anchor="t" rtlCol="false" tIns="0" lIns="0" bIns="0" rIns="0">
            <a:spAutoFit/>
          </a:bodyPr>
          <a:lstStyle/>
          <a:p>
            <a:pPr algn="l">
              <a:lnSpc>
                <a:spcPts val="5319"/>
              </a:lnSpc>
              <a:spcBef>
                <a:spcPct val="0"/>
              </a:spcBef>
            </a:pPr>
            <a:r>
              <a:rPr lang="en-US" b="true" sz="3799" i="true">
                <a:solidFill>
                  <a:srgbClr val="061647"/>
                </a:solidFill>
                <a:latin typeface="Proxima Nova Heavy Italics"/>
                <a:ea typeface="Proxima Nova Heavy Italics"/>
                <a:cs typeface="Proxima Nova Heavy Italics"/>
                <a:sym typeface="Proxima Nova Heavy Italics"/>
              </a:rPr>
              <a:t>GIỚI THIỆU </a:t>
            </a:r>
          </a:p>
        </p:txBody>
      </p:sp>
      <p:sp>
        <p:nvSpPr>
          <p:cNvPr name="TextBox 20" id="20"/>
          <p:cNvSpPr txBox="true"/>
          <p:nvPr/>
        </p:nvSpPr>
        <p:spPr>
          <a:xfrm rot="0">
            <a:off x="405073" y="1852907"/>
            <a:ext cx="8564809" cy="4537405"/>
          </a:xfrm>
          <a:prstGeom prst="rect">
            <a:avLst/>
          </a:prstGeom>
        </p:spPr>
        <p:txBody>
          <a:bodyPr anchor="t" rtlCol="false" tIns="0" lIns="0" bIns="0" rIns="0">
            <a:spAutoFit/>
          </a:bodyPr>
          <a:lstStyle/>
          <a:p>
            <a:pPr algn="l" marL="794145" indent="-397072" lvl="1">
              <a:lnSpc>
                <a:spcPts val="5149"/>
              </a:lnSpc>
              <a:buFont typeface="Arial"/>
              <a:buChar char="•"/>
            </a:pPr>
            <a:r>
              <a:rPr lang="en-US" b="true" sz="3678">
                <a:solidFill>
                  <a:srgbClr val="FFFFFF"/>
                </a:solidFill>
                <a:latin typeface="Proxima Nova Bold"/>
                <a:ea typeface="Proxima Nova Bold"/>
                <a:cs typeface="Proxima Nova Bold"/>
                <a:sym typeface="Proxima Nova Bold"/>
              </a:rPr>
              <a:t>Vấn đề đặt ra:</a:t>
            </a:r>
          </a:p>
          <a:p>
            <a:pPr algn="l" marL="794145" indent="-397072" lvl="1">
              <a:lnSpc>
                <a:spcPts val="5149"/>
              </a:lnSpc>
              <a:buFont typeface="Arial"/>
              <a:buChar char="•"/>
            </a:pPr>
            <a:r>
              <a:rPr lang="en-US" b="true" sz="3678">
                <a:solidFill>
                  <a:srgbClr val="FFFFFF"/>
                </a:solidFill>
                <a:latin typeface="Proxima Nova Bold"/>
                <a:ea typeface="Proxima Nova Bold"/>
                <a:cs typeface="Proxima Nova Bold"/>
                <a:sym typeface="Proxima Nova Bold"/>
              </a:rPr>
              <a:t>Mật khẩu truyền thống dễ bị lộ, khó nhớ và tiềm ẩn nguy cơ tấn công giả mạo (phishing).</a:t>
            </a:r>
          </a:p>
          <a:p>
            <a:pPr algn="l" marL="794145" indent="-397072" lvl="1">
              <a:lnSpc>
                <a:spcPts val="5149"/>
              </a:lnSpc>
              <a:buFont typeface="Arial"/>
              <a:buChar char="•"/>
            </a:pPr>
            <a:r>
              <a:rPr lang="en-US" b="true" sz="3678">
                <a:solidFill>
                  <a:srgbClr val="FFFFFF"/>
                </a:solidFill>
                <a:latin typeface="Proxima Nova Bold"/>
                <a:ea typeface="Proxima Nova Bold"/>
                <a:cs typeface="Proxima Nova Bold"/>
                <a:sym typeface="Proxima Nova Bold"/>
              </a:rPr>
              <a:t>Ứng dụng di động hiện đại đòi hỏi phươ</a:t>
            </a:r>
            <a:r>
              <a:rPr lang="en-US" b="true" sz="3678">
                <a:solidFill>
                  <a:srgbClr val="FFFFFF"/>
                </a:solidFill>
                <a:latin typeface="Proxima Nova Bold"/>
                <a:ea typeface="Proxima Nova Bold"/>
                <a:cs typeface="Proxima Nova Bold"/>
                <a:sym typeface="Proxima Nova Bold"/>
              </a:rPr>
              <a:t>ng thức đăng nhập vừa an toàn tuyệt đối, vừa tiện lợi (1 chạm).</a:t>
            </a:r>
          </a:p>
        </p:txBody>
      </p:sp>
      <p:sp>
        <p:nvSpPr>
          <p:cNvPr name="TextBox 21" id="21"/>
          <p:cNvSpPr txBox="true"/>
          <p:nvPr/>
        </p:nvSpPr>
        <p:spPr>
          <a:xfrm rot="0">
            <a:off x="10661727" y="4918837"/>
            <a:ext cx="6978405" cy="5006405"/>
          </a:xfrm>
          <a:prstGeom prst="rect">
            <a:avLst/>
          </a:prstGeom>
        </p:spPr>
        <p:txBody>
          <a:bodyPr anchor="t" rtlCol="false" tIns="0" lIns="0" bIns="0" rIns="0">
            <a:spAutoFit/>
          </a:bodyPr>
          <a:lstStyle/>
          <a:p>
            <a:pPr algn="l" marL="767403" indent="-383701" lvl="1">
              <a:lnSpc>
                <a:spcPts val="4976"/>
              </a:lnSpc>
              <a:buFont typeface="Arial"/>
              <a:buChar char="•"/>
            </a:pPr>
            <a:r>
              <a:rPr lang="en-US" b="true" sz="3554">
                <a:solidFill>
                  <a:srgbClr val="000000"/>
                </a:solidFill>
                <a:latin typeface="Proxima Nova Bold"/>
                <a:ea typeface="Proxima Nova Bold"/>
                <a:cs typeface="Proxima Nova Bold"/>
                <a:sym typeface="Proxima Nova Bold"/>
              </a:rPr>
              <a:t>Giải pháp</a:t>
            </a:r>
            <a:r>
              <a:rPr lang="en-US" b="true" sz="3554">
                <a:solidFill>
                  <a:srgbClr val="000000"/>
                </a:solidFill>
                <a:latin typeface="Proxima Nova Bold"/>
                <a:ea typeface="Proxima Nova Bold"/>
                <a:cs typeface="Proxima Nova Bold"/>
                <a:sym typeface="Proxima Nova Bold"/>
              </a:rPr>
              <a:t>:</a:t>
            </a:r>
          </a:p>
          <a:p>
            <a:pPr algn="l" marL="767403" indent="-383701" lvl="1">
              <a:lnSpc>
                <a:spcPts val="4976"/>
              </a:lnSpc>
              <a:buFont typeface="Arial"/>
              <a:buChar char="•"/>
            </a:pPr>
            <a:r>
              <a:rPr lang="en-US" b="true" sz="3554">
                <a:solidFill>
                  <a:srgbClr val="000000"/>
                </a:solidFill>
                <a:latin typeface="Proxima Nova Bold"/>
                <a:ea typeface="Proxima Nova Bold"/>
                <a:cs typeface="Proxima Nova Bold"/>
                <a:sym typeface="Proxima Nova Bold"/>
              </a:rPr>
              <a:t>Triển khai giải pháp xác thực sinh trắc học cục bộ (Vân tay / Face ID) trên Flutter.</a:t>
            </a:r>
          </a:p>
          <a:p>
            <a:pPr algn="l" marL="767403" indent="-383701" lvl="1">
              <a:lnSpc>
                <a:spcPts val="4976"/>
              </a:lnSpc>
              <a:buFont typeface="Arial"/>
              <a:buChar char="•"/>
            </a:pPr>
            <a:r>
              <a:rPr lang="en-US" b="true" sz="3554">
                <a:solidFill>
                  <a:srgbClr val="000000"/>
                </a:solidFill>
                <a:latin typeface="Proxima Nova Bold"/>
                <a:ea typeface="Proxima Nova Bold"/>
                <a:cs typeface="Proxima Nova Bold"/>
                <a:sym typeface="Proxima Nova Bold"/>
              </a:rPr>
              <a:t>Tận dụng</a:t>
            </a:r>
            <a:r>
              <a:rPr lang="en-US" b="true" sz="3554">
                <a:solidFill>
                  <a:srgbClr val="000000"/>
                </a:solidFill>
                <a:latin typeface="Proxima Nova Bold"/>
                <a:ea typeface="Proxima Nova Bold"/>
                <a:cs typeface="Proxima Nova Bold"/>
                <a:sym typeface="Proxima Nova Bold"/>
              </a:rPr>
              <a:t> cơ chế bảo mật của hệ điều hành và phần cứng thiết bị để thực hiện xác thực sinh trắc học an toàn.</a:t>
            </a:r>
          </a:p>
        </p:txBody>
      </p:sp>
      <p:sp>
        <p:nvSpPr>
          <p:cNvPr name="Freeform 22" id="22"/>
          <p:cNvSpPr/>
          <p:nvPr/>
        </p:nvSpPr>
        <p:spPr>
          <a:xfrm flipH="false" flipV="false" rot="0">
            <a:off x="13924628" y="0"/>
            <a:ext cx="4325936" cy="1387003"/>
          </a:xfrm>
          <a:custGeom>
            <a:avLst/>
            <a:gdLst/>
            <a:ahLst/>
            <a:cxnLst/>
            <a:rect r="r" b="b" t="t" l="l"/>
            <a:pathLst>
              <a:path h="1387003" w="4325936">
                <a:moveTo>
                  <a:pt x="0" y="0"/>
                </a:moveTo>
                <a:lnTo>
                  <a:pt x="4325935" y="0"/>
                </a:lnTo>
                <a:lnTo>
                  <a:pt x="4325935" y="1387003"/>
                </a:lnTo>
                <a:lnTo>
                  <a:pt x="0" y="1387003"/>
                </a:lnTo>
                <a:lnTo>
                  <a:pt x="0" y="0"/>
                </a:lnTo>
                <a:close/>
              </a:path>
            </a:pathLst>
          </a:custGeom>
          <a:blipFill>
            <a:blip r:embed="rId5"/>
            <a:stretch>
              <a:fillRect l="0" t="0" r="0" b="0"/>
            </a:stretch>
          </a:blipFill>
        </p:spPr>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189806" y="-1570622"/>
            <a:ext cx="18719200" cy="11857622"/>
          </a:xfrm>
          <a:custGeom>
            <a:avLst/>
            <a:gdLst/>
            <a:ahLst/>
            <a:cxnLst/>
            <a:rect r="r" b="b" t="t" l="l"/>
            <a:pathLst>
              <a:path h="11857622" w="18719200">
                <a:moveTo>
                  <a:pt x="0" y="0"/>
                </a:moveTo>
                <a:lnTo>
                  <a:pt x="18719200" y="0"/>
                </a:lnTo>
                <a:lnTo>
                  <a:pt x="18719200" y="11857622"/>
                </a:lnTo>
                <a:lnTo>
                  <a:pt x="0" y="11857622"/>
                </a:lnTo>
                <a:lnTo>
                  <a:pt x="0" y="0"/>
                </a:lnTo>
                <a:close/>
              </a:path>
            </a:pathLst>
          </a:custGeom>
          <a:blipFill>
            <a:blip r:embed="rId2"/>
            <a:stretch>
              <a:fillRect l="0" t="0" r="0" b="-5277"/>
            </a:stretch>
          </a:blipFill>
        </p:spPr>
      </p:sp>
      <p:grpSp>
        <p:nvGrpSpPr>
          <p:cNvPr name="Group 3" id="3"/>
          <p:cNvGrpSpPr/>
          <p:nvPr/>
        </p:nvGrpSpPr>
        <p:grpSpPr>
          <a:xfrm rot="0">
            <a:off x="-189806" y="-202673"/>
            <a:ext cx="18719200" cy="1431252"/>
            <a:chOff x="0" y="0"/>
            <a:chExt cx="4930160" cy="376955"/>
          </a:xfrm>
        </p:grpSpPr>
        <p:sp>
          <p:nvSpPr>
            <p:cNvPr name="Freeform 4" id="4"/>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5" id="5"/>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392288" y="1421272"/>
            <a:ext cx="14283533" cy="7145249"/>
            <a:chOff x="0" y="0"/>
            <a:chExt cx="3761918" cy="1881876"/>
          </a:xfrm>
        </p:grpSpPr>
        <p:sp>
          <p:nvSpPr>
            <p:cNvPr name="Freeform 7" id="7"/>
            <p:cNvSpPr/>
            <p:nvPr/>
          </p:nvSpPr>
          <p:spPr>
            <a:xfrm flipH="false" flipV="false" rot="0">
              <a:off x="0" y="0"/>
              <a:ext cx="3761918" cy="1881876"/>
            </a:xfrm>
            <a:custGeom>
              <a:avLst/>
              <a:gdLst/>
              <a:ahLst/>
              <a:cxnLst/>
              <a:rect r="r" b="b" t="t" l="l"/>
              <a:pathLst>
                <a:path h="1881876" w="3761918">
                  <a:moveTo>
                    <a:pt x="27643" y="0"/>
                  </a:moveTo>
                  <a:lnTo>
                    <a:pt x="3734275" y="0"/>
                  </a:lnTo>
                  <a:cubicBezTo>
                    <a:pt x="3741607" y="0"/>
                    <a:pt x="3748637" y="2912"/>
                    <a:pt x="3753822" y="8096"/>
                  </a:cubicBezTo>
                  <a:cubicBezTo>
                    <a:pt x="3759006" y="13280"/>
                    <a:pt x="3761918" y="20312"/>
                    <a:pt x="3761918" y="27643"/>
                  </a:cubicBezTo>
                  <a:lnTo>
                    <a:pt x="3761918" y="1854233"/>
                  </a:lnTo>
                  <a:cubicBezTo>
                    <a:pt x="3761918" y="1861565"/>
                    <a:pt x="3759006" y="1868596"/>
                    <a:pt x="3753822" y="1873780"/>
                  </a:cubicBezTo>
                  <a:cubicBezTo>
                    <a:pt x="3748637" y="1878964"/>
                    <a:pt x="3741607" y="1881876"/>
                    <a:pt x="3734275" y="1881876"/>
                  </a:cubicBezTo>
                  <a:lnTo>
                    <a:pt x="27643" y="1881876"/>
                  </a:lnTo>
                  <a:cubicBezTo>
                    <a:pt x="20312" y="1881876"/>
                    <a:pt x="13280" y="1878964"/>
                    <a:pt x="8096" y="1873780"/>
                  </a:cubicBezTo>
                  <a:cubicBezTo>
                    <a:pt x="2912" y="1868596"/>
                    <a:pt x="0" y="1861565"/>
                    <a:pt x="0" y="1854233"/>
                  </a:cubicBezTo>
                  <a:lnTo>
                    <a:pt x="0" y="27643"/>
                  </a:lnTo>
                  <a:cubicBezTo>
                    <a:pt x="0" y="20312"/>
                    <a:pt x="2912" y="13280"/>
                    <a:pt x="8096" y="8096"/>
                  </a:cubicBezTo>
                  <a:cubicBezTo>
                    <a:pt x="13280" y="2912"/>
                    <a:pt x="20312" y="0"/>
                    <a:pt x="27643" y="0"/>
                  </a:cubicBezTo>
                  <a:close/>
                </a:path>
              </a:pathLst>
            </a:custGeom>
            <a:gradFill rotWithShape="true">
              <a:gsLst>
                <a:gs pos="0">
                  <a:srgbClr val="235BBB">
                    <a:alpha val="100000"/>
                  </a:srgbClr>
                </a:gs>
                <a:gs pos="100000">
                  <a:srgbClr val="347FFF">
                    <a:alpha val="100000"/>
                  </a:srgbClr>
                </a:gs>
              </a:gsLst>
              <a:lin ang="5400000"/>
            </a:gradFill>
            <a:ln w="38100" cap="rnd">
              <a:solidFill>
                <a:srgbClr val="FFFFFF"/>
              </a:solidFill>
              <a:prstDash val="solid"/>
              <a:round/>
            </a:ln>
          </p:spPr>
        </p:sp>
        <p:sp>
          <p:nvSpPr>
            <p:cNvPr name="TextBox 8" id="8"/>
            <p:cNvSpPr txBox="true"/>
            <p:nvPr/>
          </p:nvSpPr>
          <p:spPr>
            <a:xfrm>
              <a:off x="0" y="-38100"/>
              <a:ext cx="3761918" cy="191997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89806" y="439295"/>
            <a:ext cx="347972" cy="513715"/>
            <a:chOff x="0" y="0"/>
            <a:chExt cx="91647" cy="135299"/>
          </a:xfrm>
        </p:grpSpPr>
        <p:sp>
          <p:nvSpPr>
            <p:cNvPr name="Freeform 10" id="10"/>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11" id="11"/>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265152" y="439295"/>
            <a:ext cx="493718" cy="513715"/>
            <a:chOff x="0" y="0"/>
            <a:chExt cx="130033" cy="135299"/>
          </a:xfrm>
        </p:grpSpPr>
        <p:sp>
          <p:nvSpPr>
            <p:cNvPr name="Freeform 13" id="13"/>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4" id="14"/>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4432510" y="6483962"/>
            <a:ext cx="9150594" cy="7869511"/>
          </a:xfrm>
          <a:custGeom>
            <a:avLst/>
            <a:gdLst/>
            <a:ahLst/>
            <a:cxnLst/>
            <a:rect r="r" b="b" t="t" l="l"/>
            <a:pathLst>
              <a:path h="7869511" w="9150594">
                <a:moveTo>
                  <a:pt x="0" y="0"/>
                </a:moveTo>
                <a:lnTo>
                  <a:pt x="9150594" y="0"/>
                </a:lnTo>
                <a:lnTo>
                  <a:pt x="9150594" y="7869511"/>
                </a:lnTo>
                <a:lnTo>
                  <a:pt x="0" y="78695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028700" y="363095"/>
            <a:ext cx="8850302" cy="646430"/>
          </a:xfrm>
          <a:prstGeom prst="rect">
            <a:avLst/>
          </a:prstGeom>
        </p:spPr>
        <p:txBody>
          <a:bodyPr anchor="t" rtlCol="false" tIns="0" lIns="0" bIns="0" rIns="0">
            <a:spAutoFit/>
          </a:bodyPr>
          <a:lstStyle/>
          <a:p>
            <a:pPr algn="l">
              <a:lnSpc>
                <a:spcPts val="5319"/>
              </a:lnSpc>
              <a:spcBef>
                <a:spcPct val="0"/>
              </a:spcBef>
            </a:pPr>
            <a:r>
              <a:rPr lang="en-US" b="true" sz="3799" i="true">
                <a:solidFill>
                  <a:srgbClr val="061647"/>
                </a:solidFill>
                <a:latin typeface="Proxima Nova Heavy Italics"/>
                <a:ea typeface="Proxima Nova Heavy Italics"/>
                <a:cs typeface="Proxima Nova Heavy Italics"/>
                <a:sym typeface="Proxima Nova Heavy Italics"/>
              </a:rPr>
              <a:t>KHÁI NIỆM</a:t>
            </a:r>
          </a:p>
        </p:txBody>
      </p:sp>
      <p:sp>
        <p:nvSpPr>
          <p:cNvPr name="TextBox 17" id="17"/>
          <p:cNvSpPr txBox="true"/>
          <p:nvPr/>
        </p:nvSpPr>
        <p:spPr>
          <a:xfrm rot="0">
            <a:off x="392288" y="1889460"/>
            <a:ext cx="14042000" cy="6142198"/>
          </a:xfrm>
          <a:prstGeom prst="rect">
            <a:avLst/>
          </a:prstGeom>
        </p:spPr>
        <p:txBody>
          <a:bodyPr anchor="t" rtlCol="false" tIns="0" lIns="0" bIns="0" rIns="0">
            <a:spAutoFit/>
          </a:bodyPr>
          <a:lstStyle/>
          <a:p>
            <a:pPr algn="l" marL="750308" indent="-375154" lvl="1">
              <a:lnSpc>
                <a:spcPts val="4865"/>
              </a:lnSpc>
              <a:buFont typeface="Arial"/>
              <a:buChar char="•"/>
            </a:pPr>
            <a:r>
              <a:rPr lang="en-US" b="true" sz="3475">
                <a:solidFill>
                  <a:srgbClr val="FFFFFF"/>
                </a:solidFill>
                <a:latin typeface="Proxima Nova Bold"/>
                <a:ea typeface="Proxima Nova Bold"/>
                <a:cs typeface="Proxima Nova Bold"/>
                <a:sym typeface="Proxima Nova Bold"/>
              </a:rPr>
              <a:t>Xác thực sinh trắc học (Biometric Authentication) là phương thức xác minh danh tính người dùng dựa trên các đặc điểm sinh học đặc trưng như vân tay, khuôn mặt hoặc mống mắt. Hệ thống sử dụng thông tin sinh trắc học đã được đăng ký trên thiết bị để kiểm tra người dùng khi có yêu cầu xác thực. Phương t</a:t>
            </a:r>
            <a:r>
              <a:rPr lang="en-US" b="true" sz="3475">
                <a:solidFill>
                  <a:srgbClr val="FFFFFF"/>
                </a:solidFill>
                <a:latin typeface="Proxima Nova Bold"/>
                <a:ea typeface="Proxima Nova Bold"/>
                <a:cs typeface="Proxima Nova Bold"/>
                <a:sym typeface="Proxima Nova Bold"/>
              </a:rPr>
              <a:t>hức này giúp đăng nhập nhanh chóng, thuận tiện và tăng cường bảo mật cho ứng dụng.</a:t>
            </a:r>
          </a:p>
          <a:p>
            <a:pPr algn="l" marL="750308" indent="-375154" lvl="1">
              <a:lnSpc>
                <a:spcPts val="4865"/>
              </a:lnSpc>
              <a:buFont typeface="Arial"/>
              <a:buChar char="•"/>
            </a:pPr>
            <a:r>
              <a:rPr lang="en-US" b="true" sz="3475">
                <a:solidFill>
                  <a:srgbClr val="FFFFFF"/>
                </a:solidFill>
                <a:latin typeface="Proxima Nova Bold"/>
                <a:ea typeface="Proxima Nova Bold"/>
                <a:cs typeface="Proxima Nova Bold"/>
                <a:sym typeface="Proxima Nova Bold"/>
              </a:rPr>
              <a:t>Biometric Storage là cơ chế lưu trữ dữ liệu nhạy cảm dưới dạng được bảo vệ, trong đó quyền truy cập dữ liệu có thể được yêu cầu xác thực bằng sinh trắc học.</a:t>
            </a:r>
          </a:p>
        </p:txBody>
      </p:sp>
      <p:sp>
        <p:nvSpPr>
          <p:cNvPr name="Freeform 18" id="18"/>
          <p:cNvSpPr/>
          <p:nvPr/>
        </p:nvSpPr>
        <p:spPr>
          <a:xfrm flipH="false" flipV="false" rot="0">
            <a:off x="13924628" y="0"/>
            <a:ext cx="4325936" cy="1387003"/>
          </a:xfrm>
          <a:custGeom>
            <a:avLst/>
            <a:gdLst/>
            <a:ahLst/>
            <a:cxnLst/>
            <a:rect r="r" b="b" t="t" l="l"/>
            <a:pathLst>
              <a:path h="1387003" w="4325936">
                <a:moveTo>
                  <a:pt x="0" y="0"/>
                </a:moveTo>
                <a:lnTo>
                  <a:pt x="4325935" y="0"/>
                </a:lnTo>
                <a:lnTo>
                  <a:pt x="4325935" y="1387003"/>
                </a:lnTo>
                <a:lnTo>
                  <a:pt x="0" y="1387003"/>
                </a:lnTo>
                <a:lnTo>
                  <a:pt x="0" y="0"/>
                </a:lnTo>
                <a:close/>
              </a:path>
            </a:pathLst>
          </a:custGeom>
          <a:blipFill>
            <a:blip r:embed="rId5"/>
            <a:stretch>
              <a:fillRect l="0" t="0" r="0" b="0"/>
            </a:stretch>
          </a:blipFill>
        </p:spPr>
      </p:sp>
    </p:spTree>
  </p:cSld>
  <p:clrMapOvr>
    <a:masterClrMapping/>
  </p:clrMapOvr>
  <p:transition spd="fast">
    <p:cover dir="rd"/>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431200" y="512953"/>
            <a:ext cx="18719200" cy="9774047"/>
          </a:xfrm>
          <a:custGeom>
            <a:avLst/>
            <a:gdLst/>
            <a:ahLst/>
            <a:cxnLst/>
            <a:rect r="r" b="b" t="t" l="l"/>
            <a:pathLst>
              <a:path h="9774047" w="18719200">
                <a:moveTo>
                  <a:pt x="0" y="0"/>
                </a:moveTo>
                <a:lnTo>
                  <a:pt x="18719200" y="0"/>
                </a:lnTo>
                <a:lnTo>
                  <a:pt x="18719200" y="9774047"/>
                </a:lnTo>
                <a:lnTo>
                  <a:pt x="0" y="9774047"/>
                </a:lnTo>
                <a:lnTo>
                  <a:pt x="0" y="0"/>
                </a:lnTo>
                <a:close/>
              </a:path>
            </a:pathLst>
          </a:custGeom>
          <a:blipFill>
            <a:blip r:embed="rId2"/>
            <a:stretch>
              <a:fillRect l="0" t="0" r="0" b="-27719"/>
            </a:stretch>
          </a:blipFill>
        </p:spPr>
      </p:sp>
      <p:grpSp>
        <p:nvGrpSpPr>
          <p:cNvPr name="Group 3" id="3"/>
          <p:cNvGrpSpPr/>
          <p:nvPr/>
        </p:nvGrpSpPr>
        <p:grpSpPr>
          <a:xfrm rot="0">
            <a:off x="-189806" y="-202673"/>
            <a:ext cx="18719200" cy="1431252"/>
            <a:chOff x="0" y="0"/>
            <a:chExt cx="4930160" cy="376955"/>
          </a:xfrm>
        </p:grpSpPr>
        <p:sp>
          <p:nvSpPr>
            <p:cNvPr name="Freeform 4" id="4"/>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5" id="5"/>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58166" y="1487711"/>
            <a:ext cx="14761999" cy="7411104"/>
            <a:chOff x="0" y="0"/>
            <a:chExt cx="3887934" cy="1951896"/>
          </a:xfrm>
        </p:grpSpPr>
        <p:sp>
          <p:nvSpPr>
            <p:cNvPr name="Freeform 7" id="7"/>
            <p:cNvSpPr/>
            <p:nvPr/>
          </p:nvSpPr>
          <p:spPr>
            <a:xfrm flipH="false" flipV="false" rot="0">
              <a:off x="0" y="0"/>
              <a:ext cx="3887934" cy="1951896"/>
            </a:xfrm>
            <a:custGeom>
              <a:avLst/>
              <a:gdLst/>
              <a:ahLst/>
              <a:cxnLst/>
              <a:rect r="r" b="b" t="t" l="l"/>
              <a:pathLst>
                <a:path h="1951896" w="3887934">
                  <a:moveTo>
                    <a:pt x="26747" y="0"/>
                  </a:moveTo>
                  <a:lnTo>
                    <a:pt x="3861187" y="0"/>
                  </a:lnTo>
                  <a:cubicBezTo>
                    <a:pt x="3868281" y="0"/>
                    <a:pt x="3875084" y="2818"/>
                    <a:pt x="3880100" y="7834"/>
                  </a:cubicBezTo>
                  <a:cubicBezTo>
                    <a:pt x="3885116" y="12850"/>
                    <a:pt x="3887934" y="19653"/>
                    <a:pt x="3887934" y="26747"/>
                  </a:cubicBezTo>
                  <a:lnTo>
                    <a:pt x="3887934" y="1925149"/>
                  </a:lnTo>
                  <a:cubicBezTo>
                    <a:pt x="3887934" y="1932242"/>
                    <a:pt x="3885116" y="1939046"/>
                    <a:pt x="3880100" y="1944062"/>
                  </a:cubicBezTo>
                  <a:cubicBezTo>
                    <a:pt x="3875084" y="1949078"/>
                    <a:pt x="3868281" y="1951896"/>
                    <a:pt x="3861187" y="1951896"/>
                  </a:cubicBezTo>
                  <a:lnTo>
                    <a:pt x="26747" y="1951896"/>
                  </a:lnTo>
                  <a:cubicBezTo>
                    <a:pt x="19653" y="1951896"/>
                    <a:pt x="12850" y="1949078"/>
                    <a:pt x="7834" y="1944062"/>
                  </a:cubicBezTo>
                  <a:cubicBezTo>
                    <a:pt x="2818" y="1939046"/>
                    <a:pt x="0" y="1932242"/>
                    <a:pt x="0" y="1925149"/>
                  </a:cubicBezTo>
                  <a:lnTo>
                    <a:pt x="0" y="26747"/>
                  </a:lnTo>
                  <a:cubicBezTo>
                    <a:pt x="0" y="19653"/>
                    <a:pt x="2818" y="12850"/>
                    <a:pt x="7834" y="7834"/>
                  </a:cubicBezTo>
                  <a:cubicBezTo>
                    <a:pt x="12850" y="2818"/>
                    <a:pt x="19653" y="0"/>
                    <a:pt x="26747" y="0"/>
                  </a:cubicBezTo>
                  <a:close/>
                </a:path>
              </a:pathLst>
            </a:custGeom>
            <a:solidFill>
              <a:srgbClr val="D39C56"/>
            </a:solidFill>
            <a:ln w="38100" cap="rnd">
              <a:solidFill>
                <a:srgbClr val="FFFFFF"/>
              </a:solidFill>
              <a:prstDash val="solid"/>
              <a:round/>
            </a:ln>
          </p:spPr>
        </p:sp>
        <p:sp>
          <p:nvSpPr>
            <p:cNvPr name="TextBox 8" id="8"/>
            <p:cNvSpPr txBox="true"/>
            <p:nvPr/>
          </p:nvSpPr>
          <p:spPr>
            <a:xfrm>
              <a:off x="0" y="-38100"/>
              <a:ext cx="3887934" cy="198999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89806" y="439295"/>
            <a:ext cx="347972" cy="513715"/>
            <a:chOff x="0" y="0"/>
            <a:chExt cx="91647" cy="135299"/>
          </a:xfrm>
        </p:grpSpPr>
        <p:sp>
          <p:nvSpPr>
            <p:cNvPr name="Freeform 10" id="10"/>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11" id="11"/>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265152" y="439295"/>
            <a:ext cx="493718" cy="513715"/>
            <a:chOff x="0" y="0"/>
            <a:chExt cx="130033" cy="135299"/>
          </a:xfrm>
        </p:grpSpPr>
        <p:sp>
          <p:nvSpPr>
            <p:cNvPr name="Freeform 13" id="13"/>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4" id="14"/>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4736989" y="6396968"/>
            <a:ext cx="9150594" cy="7869511"/>
          </a:xfrm>
          <a:custGeom>
            <a:avLst/>
            <a:gdLst/>
            <a:ahLst/>
            <a:cxnLst/>
            <a:rect r="r" b="b" t="t" l="l"/>
            <a:pathLst>
              <a:path h="7869511" w="9150594">
                <a:moveTo>
                  <a:pt x="0" y="0"/>
                </a:moveTo>
                <a:lnTo>
                  <a:pt x="9150594" y="0"/>
                </a:lnTo>
                <a:lnTo>
                  <a:pt x="9150594" y="7869511"/>
                </a:lnTo>
                <a:lnTo>
                  <a:pt x="0" y="78695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028700" y="382145"/>
            <a:ext cx="8850302" cy="570865"/>
          </a:xfrm>
          <a:prstGeom prst="rect">
            <a:avLst/>
          </a:prstGeom>
        </p:spPr>
        <p:txBody>
          <a:bodyPr anchor="t" rtlCol="false" tIns="0" lIns="0" bIns="0" rIns="0">
            <a:spAutoFit/>
          </a:bodyPr>
          <a:lstStyle/>
          <a:p>
            <a:pPr algn="l">
              <a:lnSpc>
                <a:spcPts val="4759"/>
              </a:lnSpc>
              <a:spcBef>
                <a:spcPct val="0"/>
              </a:spcBef>
            </a:pPr>
            <a:r>
              <a:rPr lang="en-US" b="true" sz="3399" i="true">
                <a:solidFill>
                  <a:srgbClr val="061647"/>
                </a:solidFill>
                <a:latin typeface="Proxima Nova Bold Italics"/>
                <a:ea typeface="Proxima Nova Bold Italics"/>
                <a:cs typeface="Proxima Nova Bold Italics"/>
                <a:sym typeface="Proxima Nova Bold Italics"/>
              </a:rPr>
              <a:t>ỨNG DỤNG</a:t>
            </a:r>
          </a:p>
        </p:txBody>
      </p:sp>
      <p:sp>
        <p:nvSpPr>
          <p:cNvPr name="TextBox 17" id="17"/>
          <p:cNvSpPr txBox="true"/>
          <p:nvPr/>
        </p:nvSpPr>
        <p:spPr>
          <a:xfrm rot="0">
            <a:off x="107411" y="1729617"/>
            <a:ext cx="14629578" cy="6770617"/>
          </a:xfrm>
          <a:prstGeom prst="rect">
            <a:avLst/>
          </a:prstGeom>
        </p:spPr>
        <p:txBody>
          <a:bodyPr anchor="t" rtlCol="false" tIns="0" lIns="0" bIns="0" rIns="0">
            <a:spAutoFit/>
          </a:bodyPr>
          <a:lstStyle/>
          <a:p>
            <a:pPr algn="l" marL="754749" indent="-377374" lvl="1">
              <a:lnSpc>
                <a:spcPts val="4894"/>
              </a:lnSpc>
              <a:buFont typeface="Arial"/>
              <a:buChar char="•"/>
            </a:pPr>
            <a:r>
              <a:rPr lang="en-US" b="true" sz="3495">
                <a:solidFill>
                  <a:srgbClr val="FFFFFF"/>
                </a:solidFill>
                <a:latin typeface="Proxima Nova Bold"/>
                <a:ea typeface="Proxima Nova Bold"/>
                <a:cs typeface="Proxima Nova Bold"/>
                <a:sym typeface="Proxima Nova Bold"/>
              </a:rPr>
              <a:t>Sinh trắc học được ứng dụng trực tiếp vào các việc thực tế sau:</a:t>
            </a:r>
          </a:p>
          <a:p>
            <a:pPr algn="l" marL="754749" indent="-377374" lvl="1">
              <a:lnSpc>
                <a:spcPts val="4894"/>
              </a:lnSpc>
              <a:buFont typeface="Arial"/>
              <a:buChar char="•"/>
            </a:pPr>
            <a:r>
              <a:rPr lang="en-US" b="true" sz="3495">
                <a:solidFill>
                  <a:srgbClr val="FFFFFF"/>
                </a:solidFill>
                <a:latin typeface="Proxima Nova Bold"/>
                <a:ea typeface="Proxima Nova Bold"/>
                <a:cs typeface="Proxima Nova Bold"/>
                <a:sym typeface="Proxima Nova Bold"/>
              </a:rPr>
              <a:t>Tài chính &amp; Ngân hàng: Xác thực chuyển tiền, đăng nhập ứng dụng ví điện tử/ngân hàng và thanh toán trực tuyến bằng vân tay hoặc Face ID.</a:t>
            </a:r>
          </a:p>
          <a:p>
            <a:pPr algn="l" marL="754749" indent="-377374" lvl="1">
              <a:lnSpc>
                <a:spcPts val="4894"/>
              </a:lnSpc>
              <a:buFont typeface="Arial"/>
              <a:buChar char="•"/>
            </a:pPr>
            <a:r>
              <a:rPr lang="en-US" b="true" sz="3495">
                <a:solidFill>
                  <a:srgbClr val="FFFFFF"/>
                </a:solidFill>
                <a:latin typeface="Proxima Nova Bold"/>
                <a:ea typeface="Proxima Nova Bold"/>
                <a:cs typeface="Proxima Nova Bold"/>
                <a:sym typeface="Proxima Nova Bold"/>
              </a:rPr>
              <a:t>Thiết bị di động: Mở khóa điện thoại, máy tính bảng và tự động điền mật khẩu/xác thực tải ứng dụng.</a:t>
            </a:r>
          </a:p>
          <a:p>
            <a:pPr algn="l" marL="754749" indent="-377374" lvl="1">
              <a:lnSpc>
                <a:spcPts val="4894"/>
              </a:lnSpc>
              <a:buFont typeface="Arial"/>
              <a:buChar char="•"/>
            </a:pPr>
            <a:r>
              <a:rPr lang="en-US" b="true" sz="3495">
                <a:solidFill>
                  <a:srgbClr val="FFFFFF"/>
                </a:solidFill>
                <a:latin typeface="Proxima Nova Bold"/>
                <a:ea typeface="Proxima Nova Bold"/>
                <a:cs typeface="Proxima Nova Bold"/>
                <a:sym typeface="Proxima Nova Bold"/>
              </a:rPr>
              <a:t>Giao thông &amp; Du lịch: Làm thủ tục (check-in) và qua cửa an ninh tự động tại sân bay bằng nhận diện khuôn mặt.</a:t>
            </a:r>
          </a:p>
          <a:p>
            <a:pPr algn="l" marL="754749" indent="-377374" lvl="1">
              <a:lnSpc>
                <a:spcPts val="4894"/>
              </a:lnSpc>
              <a:buFont typeface="Arial"/>
              <a:buChar char="•"/>
            </a:pPr>
            <a:r>
              <a:rPr lang="en-US" b="true" sz="3495">
                <a:solidFill>
                  <a:srgbClr val="FFFFFF"/>
                </a:solidFill>
                <a:latin typeface="Proxima Nova Bold"/>
                <a:ea typeface="Proxima Nova Bold"/>
                <a:cs typeface="Proxima Nova Bold"/>
                <a:sym typeface="Proxima Nova Bold"/>
              </a:rPr>
              <a:t>Quản lý &amp; Doanh nghiệp: Chấm công nhân viên, kiểm soát ra vào các khu vực bảo mật (văn phòng, kho bãi) và làm Căn</a:t>
            </a:r>
            <a:r>
              <a:rPr lang="en-US" b="true" sz="3495">
                <a:solidFill>
                  <a:srgbClr val="FFFFFF"/>
                </a:solidFill>
                <a:latin typeface="Proxima Nova Bold"/>
                <a:ea typeface="Proxima Nova Bold"/>
                <a:cs typeface="Proxima Nova Bold"/>
                <a:sym typeface="Proxima Nova Bold"/>
              </a:rPr>
              <a:t> cước công dân/Định danh điện tử (VNeID).</a:t>
            </a:r>
          </a:p>
        </p:txBody>
      </p:sp>
      <p:sp>
        <p:nvSpPr>
          <p:cNvPr name="Freeform 18" id="18"/>
          <p:cNvSpPr/>
          <p:nvPr/>
        </p:nvSpPr>
        <p:spPr>
          <a:xfrm flipH="false" flipV="false" rot="0">
            <a:off x="13924628" y="0"/>
            <a:ext cx="4325936" cy="1387003"/>
          </a:xfrm>
          <a:custGeom>
            <a:avLst/>
            <a:gdLst/>
            <a:ahLst/>
            <a:cxnLst/>
            <a:rect r="r" b="b" t="t" l="l"/>
            <a:pathLst>
              <a:path h="1387003" w="4325936">
                <a:moveTo>
                  <a:pt x="0" y="0"/>
                </a:moveTo>
                <a:lnTo>
                  <a:pt x="4325935" y="0"/>
                </a:lnTo>
                <a:lnTo>
                  <a:pt x="4325935" y="1387003"/>
                </a:lnTo>
                <a:lnTo>
                  <a:pt x="0" y="1387003"/>
                </a:lnTo>
                <a:lnTo>
                  <a:pt x="0" y="0"/>
                </a:lnTo>
                <a:close/>
              </a:path>
            </a:pathLst>
          </a:custGeom>
          <a:blipFill>
            <a:blip r:embed="rId5"/>
            <a:stretch>
              <a:fillRect l="0" t="0" r="0" b="0"/>
            </a:stretch>
          </a:blipFill>
        </p:spPr>
      </p:sp>
    </p:spTree>
  </p:cSld>
  <p:clrMapOvr>
    <a:masterClrMapping/>
  </p:clrMapOvr>
  <p:transition spd="fast">
    <p:cover dir="rd"/>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431200" y="512953"/>
            <a:ext cx="18719200" cy="9774047"/>
          </a:xfrm>
          <a:custGeom>
            <a:avLst/>
            <a:gdLst/>
            <a:ahLst/>
            <a:cxnLst/>
            <a:rect r="r" b="b" t="t" l="l"/>
            <a:pathLst>
              <a:path h="9774047" w="18719200">
                <a:moveTo>
                  <a:pt x="0" y="0"/>
                </a:moveTo>
                <a:lnTo>
                  <a:pt x="18719200" y="0"/>
                </a:lnTo>
                <a:lnTo>
                  <a:pt x="18719200" y="9774047"/>
                </a:lnTo>
                <a:lnTo>
                  <a:pt x="0" y="9774047"/>
                </a:lnTo>
                <a:lnTo>
                  <a:pt x="0" y="0"/>
                </a:lnTo>
                <a:close/>
              </a:path>
            </a:pathLst>
          </a:custGeom>
          <a:blipFill>
            <a:blip r:embed="rId2"/>
            <a:stretch>
              <a:fillRect l="0" t="0" r="0" b="-27719"/>
            </a:stretch>
          </a:blipFill>
        </p:spPr>
      </p:sp>
      <p:grpSp>
        <p:nvGrpSpPr>
          <p:cNvPr name="Group 3" id="3"/>
          <p:cNvGrpSpPr/>
          <p:nvPr/>
        </p:nvGrpSpPr>
        <p:grpSpPr>
          <a:xfrm rot="0">
            <a:off x="-189806" y="-202673"/>
            <a:ext cx="18719200" cy="1431252"/>
            <a:chOff x="0" y="0"/>
            <a:chExt cx="4930160" cy="376955"/>
          </a:xfrm>
        </p:grpSpPr>
        <p:sp>
          <p:nvSpPr>
            <p:cNvPr name="Freeform 4" id="4"/>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5" id="5"/>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89806" y="439295"/>
            <a:ext cx="347972" cy="513715"/>
            <a:chOff x="0" y="0"/>
            <a:chExt cx="91647" cy="135299"/>
          </a:xfrm>
        </p:grpSpPr>
        <p:sp>
          <p:nvSpPr>
            <p:cNvPr name="Freeform 7" id="7"/>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8" id="8"/>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65152" y="439295"/>
            <a:ext cx="493718" cy="513715"/>
            <a:chOff x="0" y="0"/>
            <a:chExt cx="130033" cy="135299"/>
          </a:xfrm>
        </p:grpSpPr>
        <p:sp>
          <p:nvSpPr>
            <p:cNvPr name="Freeform 10" id="10"/>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1" id="11"/>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6143" y="1349215"/>
            <a:ext cx="7998032" cy="2253991"/>
          </a:xfrm>
          <a:custGeom>
            <a:avLst/>
            <a:gdLst/>
            <a:ahLst/>
            <a:cxnLst/>
            <a:rect r="r" b="b" t="t" l="l"/>
            <a:pathLst>
              <a:path h="2253991" w="7998032">
                <a:moveTo>
                  <a:pt x="0" y="0"/>
                </a:moveTo>
                <a:lnTo>
                  <a:pt x="7998032" y="0"/>
                </a:lnTo>
                <a:lnTo>
                  <a:pt x="7998032" y="2253991"/>
                </a:lnTo>
                <a:lnTo>
                  <a:pt x="0" y="22539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9879002" y="2889509"/>
            <a:ext cx="7998032" cy="2253991"/>
          </a:xfrm>
          <a:custGeom>
            <a:avLst/>
            <a:gdLst/>
            <a:ahLst/>
            <a:cxnLst/>
            <a:rect r="r" b="b" t="t" l="l"/>
            <a:pathLst>
              <a:path h="2253991" w="7998032">
                <a:moveTo>
                  <a:pt x="0" y="0"/>
                </a:moveTo>
                <a:lnTo>
                  <a:pt x="7998032" y="0"/>
                </a:lnTo>
                <a:lnTo>
                  <a:pt x="7998032" y="2253991"/>
                </a:lnTo>
                <a:lnTo>
                  <a:pt x="0" y="22539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611579" y="2308190"/>
            <a:ext cx="6867160" cy="905664"/>
            <a:chOff x="0" y="0"/>
            <a:chExt cx="2089681" cy="275594"/>
          </a:xfrm>
        </p:grpSpPr>
        <p:sp>
          <p:nvSpPr>
            <p:cNvPr name="Freeform 15" id="15"/>
            <p:cNvSpPr/>
            <p:nvPr/>
          </p:nvSpPr>
          <p:spPr>
            <a:xfrm flipH="false" flipV="false" rot="0">
              <a:off x="0" y="0"/>
              <a:ext cx="2089681" cy="275594"/>
            </a:xfrm>
            <a:custGeom>
              <a:avLst/>
              <a:gdLst/>
              <a:ahLst/>
              <a:cxnLst/>
              <a:rect r="r" b="b" t="t" l="l"/>
              <a:pathLst>
                <a:path h="275594" w="2089681">
                  <a:moveTo>
                    <a:pt x="98082" y="0"/>
                  </a:moveTo>
                  <a:lnTo>
                    <a:pt x="1991598" y="0"/>
                  </a:lnTo>
                  <a:cubicBezTo>
                    <a:pt x="2045768" y="0"/>
                    <a:pt x="2089681" y="43913"/>
                    <a:pt x="2089681" y="98082"/>
                  </a:cubicBezTo>
                  <a:lnTo>
                    <a:pt x="2089681" y="177512"/>
                  </a:lnTo>
                  <a:cubicBezTo>
                    <a:pt x="2089681" y="231681"/>
                    <a:pt x="2045768" y="275594"/>
                    <a:pt x="1991598" y="275594"/>
                  </a:cubicBezTo>
                  <a:lnTo>
                    <a:pt x="98082" y="275594"/>
                  </a:lnTo>
                  <a:cubicBezTo>
                    <a:pt x="43913" y="275594"/>
                    <a:pt x="0" y="231681"/>
                    <a:pt x="0" y="177512"/>
                  </a:cubicBezTo>
                  <a:lnTo>
                    <a:pt x="0" y="98082"/>
                  </a:lnTo>
                  <a:cubicBezTo>
                    <a:pt x="0" y="43913"/>
                    <a:pt x="43913" y="0"/>
                    <a:pt x="98082" y="0"/>
                  </a:cubicBezTo>
                  <a:close/>
                </a:path>
              </a:pathLst>
            </a:custGeom>
            <a:solidFill>
              <a:srgbClr val="FFFFFF"/>
            </a:solidFill>
          </p:spPr>
        </p:sp>
        <p:sp>
          <p:nvSpPr>
            <p:cNvPr name="TextBox 16" id="16"/>
            <p:cNvSpPr txBox="true"/>
            <p:nvPr/>
          </p:nvSpPr>
          <p:spPr>
            <a:xfrm>
              <a:off x="0" y="-38100"/>
              <a:ext cx="2089681" cy="313694"/>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444438" y="3848484"/>
            <a:ext cx="6867160" cy="725477"/>
            <a:chOff x="0" y="0"/>
            <a:chExt cx="2089681" cy="220763"/>
          </a:xfrm>
        </p:grpSpPr>
        <p:sp>
          <p:nvSpPr>
            <p:cNvPr name="Freeform 18" id="18"/>
            <p:cNvSpPr/>
            <p:nvPr/>
          </p:nvSpPr>
          <p:spPr>
            <a:xfrm flipH="false" flipV="false" rot="0">
              <a:off x="0" y="0"/>
              <a:ext cx="2089681" cy="220763"/>
            </a:xfrm>
            <a:custGeom>
              <a:avLst/>
              <a:gdLst/>
              <a:ahLst/>
              <a:cxnLst/>
              <a:rect r="r" b="b" t="t" l="l"/>
              <a:pathLst>
                <a:path h="220763" w="2089681">
                  <a:moveTo>
                    <a:pt x="98082" y="0"/>
                  </a:moveTo>
                  <a:lnTo>
                    <a:pt x="1991598" y="0"/>
                  </a:lnTo>
                  <a:cubicBezTo>
                    <a:pt x="2045768" y="0"/>
                    <a:pt x="2089681" y="43913"/>
                    <a:pt x="2089681" y="98082"/>
                  </a:cubicBezTo>
                  <a:lnTo>
                    <a:pt x="2089681" y="122681"/>
                  </a:lnTo>
                  <a:cubicBezTo>
                    <a:pt x="2089681" y="176850"/>
                    <a:pt x="2045768" y="220763"/>
                    <a:pt x="1991598" y="220763"/>
                  </a:cubicBezTo>
                  <a:lnTo>
                    <a:pt x="98082" y="220763"/>
                  </a:lnTo>
                  <a:cubicBezTo>
                    <a:pt x="43913" y="220763"/>
                    <a:pt x="0" y="176850"/>
                    <a:pt x="0" y="122681"/>
                  </a:cubicBezTo>
                  <a:lnTo>
                    <a:pt x="0" y="98082"/>
                  </a:lnTo>
                  <a:cubicBezTo>
                    <a:pt x="0" y="43913"/>
                    <a:pt x="43913" y="0"/>
                    <a:pt x="98082" y="0"/>
                  </a:cubicBezTo>
                  <a:close/>
                </a:path>
              </a:pathLst>
            </a:custGeom>
            <a:solidFill>
              <a:srgbClr val="FFFFFF"/>
            </a:solidFill>
          </p:spPr>
        </p:sp>
        <p:sp>
          <p:nvSpPr>
            <p:cNvPr name="TextBox 19" id="19"/>
            <p:cNvSpPr txBox="true"/>
            <p:nvPr/>
          </p:nvSpPr>
          <p:spPr>
            <a:xfrm>
              <a:off x="0" y="-38100"/>
              <a:ext cx="2089681" cy="258863"/>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152886" y="6864494"/>
            <a:ext cx="3185706" cy="3431063"/>
          </a:xfrm>
          <a:custGeom>
            <a:avLst/>
            <a:gdLst/>
            <a:ahLst/>
            <a:cxnLst/>
            <a:rect r="r" b="b" t="t" l="l"/>
            <a:pathLst>
              <a:path h="3431063" w="3185706">
                <a:moveTo>
                  <a:pt x="0" y="0"/>
                </a:moveTo>
                <a:lnTo>
                  <a:pt x="3185706" y="0"/>
                </a:lnTo>
                <a:lnTo>
                  <a:pt x="3185706" y="3431063"/>
                </a:lnTo>
                <a:lnTo>
                  <a:pt x="0" y="3431063"/>
                </a:lnTo>
                <a:lnTo>
                  <a:pt x="0" y="0"/>
                </a:lnTo>
                <a:close/>
              </a:path>
            </a:pathLst>
          </a:custGeom>
          <a:blipFill>
            <a:blip r:embed="rId7"/>
            <a:stretch>
              <a:fillRect l="0" t="0" r="-7701" b="0"/>
            </a:stretch>
          </a:blipFill>
        </p:spPr>
      </p:sp>
      <p:sp>
        <p:nvSpPr>
          <p:cNvPr name="Freeform 21" id="21"/>
          <p:cNvSpPr/>
          <p:nvPr/>
        </p:nvSpPr>
        <p:spPr>
          <a:xfrm flipH="false" flipV="false" rot="0">
            <a:off x="4861786" y="6946004"/>
            <a:ext cx="2616953" cy="3422506"/>
          </a:xfrm>
          <a:custGeom>
            <a:avLst/>
            <a:gdLst/>
            <a:ahLst/>
            <a:cxnLst/>
            <a:rect r="r" b="b" t="t" l="l"/>
            <a:pathLst>
              <a:path h="3422506" w="2616953">
                <a:moveTo>
                  <a:pt x="0" y="0"/>
                </a:moveTo>
                <a:lnTo>
                  <a:pt x="2616953" y="0"/>
                </a:lnTo>
                <a:lnTo>
                  <a:pt x="2616953" y="3422506"/>
                </a:lnTo>
                <a:lnTo>
                  <a:pt x="0" y="3422506"/>
                </a:lnTo>
                <a:lnTo>
                  <a:pt x="0" y="0"/>
                </a:lnTo>
                <a:close/>
              </a:path>
            </a:pathLst>
          </a:custGeom>
          <a:blipFill>
            <a:blip r:embed="rId8"/>
            <a:stretch>
              <a:fillRect l="-2532" t="0" r="-8961" b="0"/>
            </a:stretch>
          </a:blipFill>
        </p:spPr>
      </p:sp>
      <p:sp>
        <p:nvSpPr>
          <p:cNvPr name="TextBox 22" id="22"/>
          <p:cNvSpPr txBox="true"/>
          <p:nvPr/>
        </p:nvSpPr>
        <p:spPr>
          <a:xfrm rot="0">
            <a:off x="1028700" y="382145"/>
            <a:ext cx="8850302" cy="570865"/>
          </a:xfrm>
          <a:prstGeom prst="rect">
            <a:avLst/>
          </a:prstGeom>
        </p:spPr>
        <p:txBody>
          <a:bodyPr anchor="t" rtlCol="false" tIns="0" lIns="0" bIns="0" rIns="0">
            <a:spAutoFit/>
          </a:bodyPr>
          <a:lstStyle/>
          <a:p>
            <a:pPr algn="l">
              <a:lnSpc>
                <a:spcPts val="4759"/>
              </a:lnSpc>
              <a:spcBef>
                <a:spcPct val="0"/>
              </a:spcBef>
            </a:pPr>
            <a:r>
              <a:rPr lang="en-US" b="true" sz="3399" i="true">
                <a:solidFill>
                  <a:srgbClr val="061647"/>
                </a:solidFill>
                <a:latin typeface="Proxima Nova Heavy Italics"/>
                <a:ea typeface="Proxima Nova Heavy Italics"/>
                <a:cs typeface="Proxima Nova Heavy Italics"/>
                <a:sym typeface="Proxima Nova Heavy Italics"/>
              </a:rPr>
              <a:t>CÔNG NGHỆ CHÍNH SỬ DỤNG</a:t>
            </a:r>
          </a:p>
        </p:txBody>
      </p:sp>
      <p:sp>
        <p:nvSpPr>
          <p:cNvPr name="TextBox 23" id="23"/>
          <p:cNvSpPr txBox="true"/>
          <p:nvPr/>
        </p:nvSpPr>
        <p:spPr>
          <a:xfrm rot="0">
            <a:off x="46143" y="1605268"/>
            <a:ext cx="7998032" cy="570865"/>
          </a:xfrm>
          <a:prstGeom prst="rect">
            <a:avLst/>
          </a:prstGeom>
        </p:spPr>
        <p:txBody>
          <a:bodyPr anchor="t" rtlCol="false" tIns="0" lIns="0" bIns="0" rIns="0">
            <a:spAutoFit/>
          </a:bodyPr>
          <a:lstStyle/>
          <a:p>
            <a:pPr algn="ctr">
              <a:lnSpc>
                <a:spcPts val="4759"/>
              </a:lnSpc>
              <a:spcBef>
                <a:spcPct val="0"/>
              </a:spcBef>
            </a:pPr>
            <a:r>
              <a:rPr lang="en-US" b="true" sz="3399">
                <a:solidFill>
                  <a:srgbClr val="FFFFFF"/>
                </a:solidFill>
                <a:latin typeface="Proxima Nova Heavy"/>
                <a:ea typeface="Proxima Nova Heavy"/>
                <a:cs typeface="Proxima Nova Heavy"/>
                <a:sym typeface="Proxima Nova Heavy"/>
              </a:rPr>
              <a:t>FL</a:t>
            </a:r>
            <a:r>
              <a:rPr lang="en-US" b="true" sz="3399">
                <a:solidFill>
                  <a:srgbClr val="FFFFFF"/>
                </a:solidFill>
                <a:latin typeface="Proxima Nova Heavy"/>
                <a:ea typeface="Proxima Nova Heavy"/>
                <a:cs typeface="Proxima Nova Heavy"/>
                <a:sym typeface="Proxima Nova Heavy"/>
              </a:rPr>
              <a:t>UTTER + DART</a:t>
            </a:r>
          </a:p>
        </p:txBody>
      </p:sp>
      <p:sp>
        <p:nvSpPr>
          <p:cNvPr name="TextBox 24" id="24"/>
          <p:cNvSpPr txBox="true"/>
          <p:nvPr/>
        </p:nvSpPr>
        <p:spPr>
          <a:xfrm rot="0">
            <a:off x="9879002" y="3145562"/>
            <a:ext cx="7998032" cy="570865"/>
          </a:xfrm>
          <a:prstGeom prst="rect">
            <a:avLst/>
          </a:prstGeom>
        </p:spPr>
        <p:txBody>
          <a:bodyPr anchor="t" rtlCol="false" tIns="0" lIns="0" bIns="0" rIns="0">
            <a:spAutoFit/>
          </a:bodyPr>
          <a:lstStyle/>
          <a:p>
            <a:pPr algn="ctr">
              <a:lnSpc>
                <a:spcPts val="4759"/>
              </a:lnSpc>
              <a:spcBef>
                <a:spcPct val="0"/>
              </a:spcBef>
            </a:pPr>
            <a:r>
              <a:rPr lang="en-US" b="true" sz="3399">
                <a:solidFill>
                  <a:srgbClr val="FFFFFF"/>
                </a:solidFill>
                <a:latin typeface="Proxima Nova Heavy"/>
                <a:ea typeface="Proxima Nova Heavy"/>
                <a:cs typeface="Proxima Nova Heavy"/>
                <a:sym typeface="Proxima Nova Heavy"/>
              </a:rPr>
              <a:t>PACKAGE C</a:t>
            </a:r>
            <a:r>
              <a:rPr lang="en-US" b="true" sz="3399">
                <a:solidFill>
                  <a:srgbClr val="FFFFFF"/>
                </a:solidFill>
                <a:latin typeface="Proxima Nova Heavy"/>
                <a:ea typeface="Proxima Nova Heavy"/>
                <a:cs typeface="Proxima Nova Heavy"/>
                <a:sym typeface="Proxima Nova Heavy"/>
              </a:rPr>
              <a:t>HÍNH</a:t>
            </a:r>
          </a:p>
        </p:txBody>
      </p:sp>
      <p:sp>
        <p:nvSpPr>
          <p:cNvPr name="TextBox 25" id="25"/>
          <p:cNvSpPr txBox="true"/>
          <p:nvPr/>
        </p:nvSpPr>
        <p:spPr>
          <a:xfrm rot="0">
            <a:off x="611579" y="2434077"/>
            <a:ext cx="6867160" cy="704850"/>
          </a:xfrm>
          <a:prstGeom prst="rect">
            <a:avLst/>
          </a:prstGeom>
        </p:spPr>
        <p:txBody>
          <a:bodyPr anchor="t" rtlCol="false" tIns="0" lIns="0" bIns="0" rIns="0">
            <a:spAutoFit/>
          </a:bodyPr>
          <a:lstStyle/>
          <a:p>
            <a:pPr algn="ctr">
              <a:lnSpc>
                <a:spcPts val="2775"/>
              </a:lnSpc>
            </a:pPr>
            <a:r>
              <a:rPr lang="en-US" b="true" sz="2500">
                <a:gradFill>
                  <a:gsLst>
                    <a:gs pos="0">
                      <a:srgbClr val="235BBB">
                        <a:alpha val="100000"/>
                      </a:srgbClr>
                    </a:gs>
                    <a:gs pos="100000">
                      <a:srgbClr val="347FFF">
                        <a:alpha val="100000"/>
                      </a:srgbClr>
                    </a:gs>
                  </a:gsLst>
                  <a:lin ang="5400000"/>
                </a:gradFill>
                <a:latin typeface="Proxima Nova Bold"/>
                <a:ea typeface="Proxima Nova Bold"/>
                <a:cs typeface="Proxima Nova Bold"/>
                <a:sym typeface="Proxima Nova Bold"/>
              </a:rPr>
              <a:t>Xây dựng giao diện và phát triển ứng dụng di động.</a:t>
            </a:r>
          </a:p>
        </p:txBody>
      </p:sp>
      <p:sp>
        <p:nvSpPr>
          <p:cNvPr name="TextBox 26" id="26"/>
          <p:cNvSpPr txBox="true"/>
          <p:nvPr/>
        </p:nvSpPr>
        <p:spPr>
          <a:xfrm rot="0">
            <a:off x="10518982" y="3978424"/>
            <a:ext cx="6718072" cy="603250"/>
          </a:xfrm>
          <a:prstGeom prst="rect">
            <a:avLst/>
          </a:prstGeom>
        </p:spPr>
        <p:txBody>
          <a:bodyPr anchor="t" rtlCol="false" tIns="0" lIns="0" bIns="0" rIns="0">
            <a:spAutoFit/>
          </a:bodyPr>
          <a:lstStyle/>
          <a:p>
            <a:pPr algn="ctr" marL="0" indent="0" lvl="0">
              <a:lnSpc>
                <a:spcPts val="2375"/>
              </a:lnSpc>
            </a:pPr>
            <a:r>
              <a:rPr lang="en-US" b="true" sz="2500">
                <a:gradFill>
                  <a:gsLst>
                    <a:gs pos="0">
                      <a:srgbClr val="C08846">
                        <a:alpha val="100000"/>
                      </a:srgbClr>
                    </a:gs>
                    <a:gs pos="100000">
                      <a:srgbClr val="FFC87B">
                        <a:alpha val="100000"/>
                      </a:srgbClr>
                    </a:gs>
                  </a:gsLst>
                  <a:lin ang="5400000"/>
                </a:gradFill>
                <a:latin typeface="Proxima Nova Bold"/>
                <a:ea typeface="Proxima Nova Bold"/>
                <a:cs typeface="Proxima Nova Bold"/>
                <a:sym typeface="Proxima Nova Bold"/>
              </a:rPr>
              <a:t>biometr</a:t>
            </a:r>
            <a:r>
              <a:rPr lang="en-US" b="true" sz="2500" strike="noStrike" u="none">
                <a:gradFill>
                  <a:gsLst>
                    <a:gs pos="0">
                      <a:srgbClr val="C08846">
                        <a:alpha val="100000"/>
                      </a:srgbClr>
                    </a:gs>
                    <a:gs pos="100000">
                      <a:srgbClr val="FFC87B">
                        <a:alpha val="100000"/>
                      </a:srgbClr>
                    </a:gs>
                  </a:gsLst>
                  <a:lin ang="5400000"/>
                </a:gradFill>
                <a:latin typeface="Proxima Nova Bold"/>
                <a:ea typeface="Proxima Nova Bold"/>
                <a:cs typeface="Proxima Nova Bold"/>
                <a:sym typeface="Proxima Nova Bold"/>
              </a:rPr>
              <a:t>ic_storage / local_auth</a:t>
            </a:r>
            <a:r>
              <a:rPr lang="en-US" b="true" sz="2500" strike="noStrike" u="none">
                <a:gradFill>
                  <a:gsLst>
                    <a:gs pos="0">
                      <a:srgbClr val="C08846">
                        <a:alpha val="100000"/>
                      </a:srgbClr>
                    </a:gs>
                    <a:gs pos="100000">
                      <a:srgbClr val="FFC87B">
                        <a:alpha val="100000"/>
                      </a:srgbClr>
                    </a:gs>
                  </a:gsLst>
                  <a:lin ang="5400000"/>
                </a:gradFill>
                <a:latin typeface="Proxima Nova Bold"/>
                <a:ea typeface="Proxima Nova Bold"/>
                <a:cs typeface="Proxima Nova Bold"/>
                <a:sym typeface="Proxima Nova Bold"/>
              </a:rPr>
              <a:t>:</a:t>
            </a:r>
            <a:r>
              <a:rPr lang="en-US" b="true" sz="2500" strike="noStrike" u="none">
                <a:gradFill>
                  <a:gsLst>
                    <a:gs pos="0">
                      <a:srgbClr val="C08846">
                        <a:alpha val="100000"/>
                      </a:srgbClr>
                    </a:gs>
                    <a:gs pos="100000">
                      <a:srgbClr val="FFC87B">
                        <a:alpha val="100000"/>
                      </a:srgbClr>
                    </a:gs>
                  </a:gsLst>
                  <a:lin ang="5400000"/>
                </a:gradFill>
                <a:latin typeface="Proxima Nova Bold"/>
                <a:ea typeface="Proxima Nova Bold"/>
                <a:cs typeface="Proxima Nova Bold"/>
                <a:sym typeface="Proxima Nova Bold"/>
              </a:rPr>
              <a:t> </a:t>
            </a:r>
            <a:r>
              <a:rPr lang="en-US" b="true" sz="2500" strike="noStrike" u="none">
                <a:gradFill>
                  <a:gsLst>
                    <a:gs pos="0">
                      <a:srgbClr val="C08846">
                        <a:alpha val="100000"/>
                      </a:srgbClr>
                    </a:gs>
                    <a:gs pos="100000">
                      <a:srgbClr val="FFC87B">
                        <a:alpha val="100000"/>
                      </a:srgbClr>
                    </a:gs>
                  </a:gsLst>
                  <a:lin ang="5400000"/>
                </a:gradFill>
                <a:latin typeface="Proxima Nova Bold"/>
                <a:ea typeface="Proxima Nova Bold"/>
                <a:cs typeface="Proxima Nova Bold"/>
                <a:sym typeface="Proxima Nova Bold"/>
              </a:rPr>
              <a:t>V</a:t>
            </a:r>
            <a:r>
              <a:rPr lang="en-US" b="true" sz="2500" strike="noStrike" u="none">
                <a:gradFill>
                  <a:gsLst>
                    <a:gs pos="0">
                      <a:srgbClr val="C08846">
                        <a:alpha val="100000"/>
                      </a:srgbClr>
                    </a:gs>
                    <a:gs pos="100000">
                      <a:srgbClr val="FFC87B">
                        <a:alpha val="100000"/>
                      </a:srgbClr>
                    </a:gs>
                  </a:gsLst>
                  <a:lin ang="5400000"/>
                </a:gradFill>
                <a:latin typeface="Proxima Nova Bold"/>
                <a:ea typeface="Proxima Nova Bold"/>
                <a:cs typeface="Proxima Nova Bold"/>
                <a:sym typeface="Proxima Nova Bold"/>
              </a:rPr>
              <a:t>ân tay, Face ID &amp; mã hóa</a:t>
            </a:r>
          </a:p>
        </p:txBody>
      </p:sp>
      <p:sp>
        <p:nvSpPr>
          <p:cNvPr name="Freeform 27" id="27"/>
          <p:cNvSpPr/>
          <p:nvPr/>
        </p:nvSpPr>
        <p:spPr>
          <a:xfrm flipH="false" flipV="false" rot="0">
            <a:off x="13584752" y="0"/>
            <a:ext cx="4665811" cy="1495976"/>
          </a:xfrm>
          <a:custGeom>
            <a:avLst/>
            <a:gdLst/>
            <a:ahLst/>
            <a:cxnLst/>
            <a:rect r="r" b="b" t="t" l="l"/>
            <a:pathLst>
              <a:path h="1495976" w="4665811">
                <a:moveTo>
                  <a:pt x="0" y="0"/>
                </a:moveTo>
                <a:lnTo>
                  <a:pt x="4665811" y="0"/>
                </a:lnTo>
                <a:lnTo>
                  <a:pt x="4665811" y="1495976"/>
                </a:lnTo>
                <a:lnTo>
                  <a:pt x="0" y="1495976"/>
                </a:lnTo>
                <a:lnTo>
                  <a:pt x="0" y="0"/>
                </a:lnTo>
                <a:close/>
              </a:path>
            </a:pathLst>
          </a:custGeom>
          <a:blipFill>
            <a:blip r:embed="rId9"/>
            <a:stretch>
              <a:fillRect l="0" t="0" r="0" b="0"/>
            </a:stretch>
          </a:blipFill>
        </p:spPr>
      </p:sp>
      <p:sp>
        <p:nvSpPr>
          <p:cNvPr name="Freeform 28" id="28"/>
          <p:cNvSpPr/>
          <p:nvPr/>
        </p:nvSpPr>
        <p:spPr>
          <a:xfrm flipH="false" flipV="false" rot="0">
            <a:off x="203754" y="4508971"/>
            <a:ext cx="7660274" cy="2158804"/>
          </a:xfrm>
          <a:custGeom>
            <a:avLst/>
            <a:gdLst/>
            <a:ahLst/>
            <a:cxnLst/>
            <a:rect r="r" b="b" t="t" l="l"/>
            <a:pathLst>
              <a:path h="2158804" w="7660274">
                <a:moveTo>
                  <a:pt x="0" y="0"/>
                </a:moveTo>
                <a:lnTo>
                  <a:pt x="7660274" y="0"/>
                </a:lnTo>
                <a:lnTo>
                  <a:pt x="7660274" y="2158804"/>
                </a:lnTo>
                <a:lnTo>
                  <a:pt x="0" y="21588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9" id="29"/>
          <p:cNvGrpSpPr/>
          <p:nvPr/>
        </p:nvGrpSpPr>
        <p:grpSpPr>
          <a:xfrm rot="0">
            <a:off x="853397" y="5423408"/>
            <a:ext cx="6577159" cy="694840"/>
            <a:chOff x="0" y="0"/>
            <a:chExt cx="2089681" cy="220763"/>
          </a:xfrm>
        </p:grpSpPr>
        <p:sp>
          <p:nvSpPr>
            <p:cNvPr name="Freeform 30" id="30"/>
            <p:cNvSpPr/>
            <p:nvPr/>
          </p:nvSpPr>
          <p:spPr>
            <a:xfrm flipH="false" flipV="false" rot="0">
              <a:off x="0" y="0"/>
              <a:ext cx="2089681" cy="220763"/>
            </a:xfrm>
            <a:custGeom>
              <a:avLst/>
              <a:gdLst/>
              <a:ahLst/>
              <a:cxnLst/>
              <a:rect r="r" b="b" t="t" l="l"/>
              <a:pathLst>
                <a:path h="220763" w="2089681">
                  <a:moveTo>
                    <a:pt x="102407" y="0"/>
                  </a:moveTo>
                  <a:lnTo>
                    <a:pt x="1987274" y="0"/>
                  </a:lnTo>
                  <a:cubicBezTo>
                    <a:pt x="2043831" y="0"/>
                    <a:pt x="2089681" y="45849"/>
                    <a:pt x="2089681" y="102407"/>
                  </a:cubicBezTo>
                  <a:lnTo>
                    <a:pt x="2089681" y="118356"/>
                  </a:lnTo>
                  <a:cubicBezTo>
                    <a:pt x="2089681" y="174914"/>
                    <a:pt x="2043831" y="220763"/>
                    <a:pt x="1987274" y="220763"/>
                  </a:cubicBezTo>
                  <a:lnTo>
                    <a:pt x="102407" y="220763"/>
                  </a:lnTo>
                  <a:cubicBezTo>
                    <a:pt x="45849" y="220763"/>
                    <a:pt x="0" y="174914"/>
                    <a:pt x="0" y="118356"/>
                  </a:cubicBezTo>
                  <a:lnTo>
                    <a:pt x="0" y="102407"/>
                  </a:lnTo>
                  <a:cubicBezTo>
                    <a:pt x="0" y="45849"/>
                    <a:pt x="45849" y="0"/>
                    <a:pt x="102407" y="0"/>
                  </a:cubicBezTo>
                  <a:close/>
                </a:path>
              </a:pathLst>
            </a:custGeom>
            <a:solidFill>
              <a:srgbClr val="FFFFFF"/>
            </a:solidFill>
          </p:spPr>
        </p:sp>
        <p:sp>
          <p:nvSpPr>
            <p:cNvPr name="TextBox 31" id="31"/>
            <p:cNvSpPr txBox="true"/>
            <p:nvPr/>
          </p:nvSpPr>
          <p:spPr>
            <a:xfrm>
              <a:off x="0" y="-38100"/>
              <a:ext cx="2089681" cy="258863"/>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849173" y="5629674"/>
            <a:ext cx="6813283" cy="336335"/>
          </a:xfrm>
          <a:prstGeom prst="rect">
            <a:avLst/>
          </a:prstGeom>
        </p:spPr>
        <p:txBody>
          <a:bodyPr anchor="t" rtlCol="false" tIns="0" lIns="0" bIns="0" rIns="0">
            <a:spAutoFit/>
          </a:bodyPr>
          <a:lstStyle/>
          <a:p>
            <a:pPr algn="ctr">
              <a:lnSpc>
                <a:spcPts val="2657"/>
              </a:lnSpc>
            </a:pPr>
            <a:r>
              <a:rPr lang="en-US" b="true" sz="2394">
                <a:gradFill>
                  <a:gsLst>
                    <a:gs pos="0">
                      <a:srgbClr val="235BBB">
                        <a:alpha val="100000"/>
                      </a:srgbClr>
                    </a:gs>
                    <a:gs pos="100000">
                      <a:srgbClr val="347FFF">
                        <a:alpha val="100000"/>
                      </a:srgbClr>
                    </a:gs>
                  </a:gsLst>
                  <a:lin ang="5400000"/>
                </a:gradFill>
                <a:latin typeface="Proxima Nova Bold"/>
                <a:ea typeface="Proxima Nova Bold"/>
                <a:cs typeface="Proxima Nova Bold"/>
                <a:sym typeface="Proxima Nova Bold"/>
              </a:rPr>
              <a:t>Tích hợp Android KeyStore </a:t>
            </a:r>
          </a:p>
        </p:txBody>
      </p:sp>
      <p:sp>
        <p:nvSpPr>
          <p:cNvPr name="TextBox 33" id="33"/>
          <p:cNvSpPr txBox="true"/>
          <p:nvPr/>
        </p:nvSpPr>
        <p:spPr>
          <a:xfrm rot="0">
            <a:off x="158166" y="4737749"/>
            <a:ext cx="7660274" cy="558696"/>
          </a:xfrm>
          <a:prstGeom prst="rect">
            <a:avLst/>
          </a:prstGeom>
        </p:spPr>
        <p:txBody>
          <a:bodyPr anchor="t" rtlCol="false" tIns="0" lIns="0" bIns="0" rIns="0">
            <a:spAutoFit/>
          </a:bodyPr>
          <a:lstStyle/>
          <a:p>
            <a:pPr algn="ctr">
              <a:lnSpc>
                <a:spcPts val="4558"/>
              </a:lnSpc>
              <a:spcBef>
                <a:spcPct val="0"/>
              </a:spcBef>
            </a:pPr>
            <a:r>
              <a:rPr lang="en-US" b="true" sz="3256">
                <a:solidFill>
                  <a:srgbClr val="FFFFFF"/>
                </a:solidFill>
                <a:latin typeface="Proxima Nova Heavy"/>
                <a:ea typeface="Proxima Nova Heavy"/>
                <a:cs typeface="Proxima Nova Heavy"/>
                <a:sym typeface="Proxima Nova Heavy"/>
              </a:rPr>
              <a:t>BẢO MẬT PHẦN CỨNG</a:t>
            </a:r>
          </a:p>
        </p:txBody>
      </p:sp>
      <p:sp>
        <p:nvSpPr>
          <p:cNvPr name="Freeform 34" id="34"/>
          <p:cNvSpPr/>
          <p:nvPr/>
        </p:nvSpPr>
        <p:spPr>
          <a:xfrm flipH="false" flipV="false" rot="0">
            <a:off x="10017430" y="6312430"/>
            <a:ext cx="8031337" cy="2263377"/>
          </a:xfrm>
          <a:custGeom>
            <a:avLst/>
            <a:gdLst/>
            <a:ahLst/>
            <a:cxnLst/>
            <a:rect r="r" b="b" t="t" l="l"/>
            <a:pathLst>
              <a:path h="2263377" w="8031337">
                <a:moveTo>
                  <a:pt x="0" y="0"/>
                </a:moveTo>
                <a:lnTo>
                  <a:pt x="8031337" y="0"/>
                </a:lnTo>
                <a:lnTo>
                  <a:pt x="8031337" y="2263377"/>
                </a:lnTo>
                <a:lnTo>
                  <a:pt x="0" y="22633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5" id="35"/>
          <p:cNvGrpSpPr/>
          <p:nvPr/>
        </p:nvGrpSpPr>
        <p:grpSpPr>
          <a:xfrm rot="0">
            <a:off x="10514799" y="7072543"/>
            <a:ext cx="7194762" cy="949127"/>
            <a:chOff x="0" y="0"/>
            <a:chExt cx="2189370" cy="288820"/>
          </a:xfrm>
        </p:grpSpPr>
        <p:sp>
          <p:nvSpPr>
            <p:cNvPr name="Freeform 36" id="36"/>
            <p:cNvSpPr/>
            <p:nvPr/>
          </p:nvSpPr>
          <p:spPr>
            <a:xfrm flipH="false" flipV="false" rot="0">
              <a:off x="0" y="0"/>
              <a:ext cx="2189370" cy="288820"/>
            </a:xfrm>
            <a:custGeom>
              <a:avLst/>
              <a:gdLst/>
              <a:ahLst/>
              <a:cxnLst/>
              <a:rect r="r" b="b" t="t" l="l"/>
              <a:pathLst>
                <a:path h="288820" w="2189370">
                  <a:moveTo>
                    <a:pt x="93616" y="0"/>
                  </a:moveTo>
                  <a:lnTo>
                    <a:pt x="2095754" y="0"/>
                  </a:lnTo>
                  <a:cubicBezTo>
                    <a:pt x="2147457" y="0"/>
                    <a:pt x="2189370" y="41913"/>
                    <a:pt x="2189370" y="93616"/>
                  </a:cubicBezTo>
                  <a:lnTo>
                    <a:pt x="2189370" y="195204"/>
                  </a:lnTo>
                  <a:cubicBezTo>
                    <a:pt x="2189370" y="220032"/>
                    <a:pt x="2179507" y="243844"/>
                    <a:pt x="2161951" y="261400"/>
                  </a:cubicBezTo>
                  <a:cubicBezTo>
                    <a:pt x="2144394" y="278957"/>
                    <a:pt x="2120583" y="288820"/>
                    <a:pt x="2095754" y="288820"/>
                  </a:cubicBezTo>
                  <a:lnTo>
                    <a:pt x="93616" y="288820"/>
                  </a:lnTo>
                  <a:cubicBezTo>
                    <a:pt x="41913" y="288820"/>
                    <a:pt x="0" y="246907"/>
                    <a:pt x="0" y="195204"/>
                  </a:cubicBezTo>
                  <a:lnTo>
                    <a:pt x="0" y="93616"/>
                  </a:lnTo>
                  <a:cubicBezTo>
                    <a:pt x="0" y="68788"/>
                    <a:pt x="9863" y="44976"/>
                    <a:pt x="27420" y="27420"/>
                  </a:cubicBezTo>
                  <a:cubicBezTo>
                    <a:pt x="44976" y="9863"/>
                    <a:pt x="68788" y="0"/>
                    <a:pt x="93616" y="0"/>
                  </a:cubicBezTo>
                  <a:close/>
                </a:path>
              </a:pathLst>
            </a:custGeom>
            <a:solidFill>
              <a:srgbClr val="FFFFFF"/>
            </a:solidFill>
          </p:spPr>
        </p:sp>
        <p:sp>
          <p:nvSpPr>
            <p:cNvPr name="TextBox 37" id="37"/>
            <p:cNvSpPr txBox="true"/>
            <p:nvPr/>
          </p:nvSpPr>
          <p:spPr>
            <a:xfrm>
              <a:off x="0" y="-38100"/>
              <a:ext cx="2189370" cy="326920"/>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10609804" y="7247557"/>
            <a:ext cx="7113695" cy="1409700"/>
          </a:xfrm>
          <a:prstGeom prst="rect">
            <a:avLst/>
          </a:prstGeom>
        </p:spPr>
        <p:txBody>
          <a:bodyPr anchor="t" rtlCol="false" tIns="0" lIns="0" bIns="0" rIns="0">
            <a:spAutoFit/>
          </a:bodyPr>
          <a:lstStyle/>
          <a:p>
            <a:pPr algn="ctr">
              <a:lnSpc>
                <a:spcPts val="2775"/>
              </a:lnSpc>
            </a:pPr>
            <a:r>
              <a:rPr lang="en-US" b="true" sz="2500">
                <a:gradFill>
                  <a:gsLst>
                    <a:gs pos="0">
                      <a:srgbClr val="235BBB">
                        <a:alpha val="100000"/>
                      </a:srgbClr>
                    </a:gs>
                    <a:gs pos="100000">
                      <a:srgbClr val="347FFF">
                        <a:alpha val="100000"/>
                      </a:srgbClr>
                    </a:gs>
                  </a:gsLst>
                  <a:lin ang="5400000"/>
                </a:gradFill>
                <a:latin typeface="Proxima Nova Bold"/>
                <a:ea typeface="Proxima Nova Bold"/>
                <a:cs typeface="Proxima Nova Bold"/>
                <a:sym typeface="Proxima Nova Bold"/>
              </a:rPr>
              <a:t>Thực hiện xác thực thông qua cơ chế bảo mật của hệ điều hành và cảm biến vân tay.</a:t>
            </a:r>
          </a:p>
          <a:p>
            <a:pPr algn="ctr">
              <a:lnSpc>
                <a:spcPts val="2775"/>
              </a:lnSpc>
            </a:pPr>
          </a:p>
          <a:p>
            <a:pPr algn="ctr">
              <a:lnSpc>
                <a:spcPts val="2775"/>
              </a:lnSpc>
            </a:pPr>
          </a:p>
        </p:txBody>
      </p:sp>
      <p:sp>
        <p:nvSpPr>
          <p:cNvPr name="TextBox 39" id="39"/>
          <p:cNvSpPr txBox="true"/>
          <p:nvPr/>
        </p:nvSpPr>
        <p:spPr>
          <a:xfrm rot="0">
            <a:off x="10017430" y="6448092"/>
            <a:ext cx="7998032" cy="570865"/>
          </a:xfrm>
          <a:prstGeom prst="rect">
            <a:avLst/>
          </a:prstGeom>
        </p:spPr>
        <p:txBody>
          <a:bodyPr anchor="t" rtlCol="false" tIns="0" lIns="0" bIns="0" rIns="0">
            <a:spAutoFit/>
          </a:bodyPr>
          <a:lstStyle/>
          <a:p>
            <a:pPr algn="ctr">
              <a:lnSpc>
                <a:spcPts val="4759"/>
              </a:lnSpc>
              <a:spcBef>
                <a:spcPct val="0"/>
              </a:spcBef>
            </a:pPr>
            <a:r>
              <a:rPr lang="en-US" b="true" sz="3399">
                <a:solidFill>
                  <a:srgbClr val="FFFFFF"/>
                </a:solidFill>
                <a:latin typeface="Proxima Nova Heavy"/>
                <a:ea typeface="Proxima Nova Heavy"/>
                <a:cs typeface="Proxima Nova Heavy"/>
                <a:sym typeface="Proxima Nova Heavy"/>
              </a:rPr>
              <a:t>ANDROID BIOMETRIC SYSTEM</a:t>
            </a:r>
          </a:p>
        </p:txBody>
      </p:sp>
    </p:spTree>
  </p:cSld>
  <p:clrMapOvr>
    <a:masterClrMapping/>
  </p:clrMapOvr>
  <p:transition spd="fast">
    <p:cover dir="rd"/>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61647"/>
        </a:solidFill>
      </p:bgPr>
    </p:bg>
    <p:spTree>
      <p:nvGrpSpPr>
        <p:cNvPr id="1" name=""/>
        <p:cNvGrpSpPr/>
        <p:nvPr/>
      </p:nvGrpSpPr>
      <p:grpSpPr>
        <a:xfrm>
          <a:off x="0" y="0"/>
          <a:ext cx="0" cy="0"/>
          <a:chOff x="0" y="0"/>
          <a:chExt cx="0" cy="0"/>
        </a:xfrm>
      </p:grpSpPr>
      <p:grpSp>
        <p:nvGrpSpPr>
          <p:cNvPr name="Group 2" id="2"/>
          <p:cNvGrpSpPr/>
          <p:nvPr/>
        </p:nvGrpSpPr>
        <p:grpSpPr>
          <a:xfrm rot="0">
            <a:off x="-189806" y="-202673"/>
            <a:ext cx="18719200" cy="2060877"/>
            <a:chOff x="0" y="0"/>
            <a:chExt cx="4930160" cy="542783"/>
          </a:xfrm>
        </p:grpSpPr>
        <p:sp>
          <p:nvSpPr>
            <p:cNvPr name="Freeform 3" id="3"/>
            <p:cNvSpPr/>
            <p:nvPr/>
          </p:nvSpPr>
          <p:spPr>
            <a:xfrm flipH="false" flipV="false" rot="0">
              <a:off x="0" y="0"/>
              <a:ext cx="4930160" cy="542783"/>
            </a:xfrm>
            <a:custGeom>
              <a:avLst/>
              <a:gdLst/>
              <a:ahLst/>
              <a:cxnLst/>
              <a:rect r="r" b="b" t="t" l="l"/>
              <a:pathLst>
                <a:path h="542783" w="4930160">
                  <a:moveTo>
                    <a:pt x="0" y="0"/>
                  </a:moveTo>
                  <a:lnTo>
                    <a:pt x="4930160" y="0"/>
                  </a:lnTo>
                  <a:lnTo>
                    <a:pt x="4930160" y="542783"/>
                  </a:lnTo>
                  <a:lnTo>
                    <a:pt x="0" y="542783"/>
                  </a:lnTo>
                  <a:close/>
                </a:path>
              </a:pathLst>
            </a:custGeom>
            <a:solidFill>
              <a:srgbClr val="FFFFFF"/>
            </a:solidFill>
          </p:spPr>
        </p:sp>
        <p:sp>
          <p:nvSpPr>
            <p:cNvPr name="TextBox 4" id="4"/>
            <p:cNvSpPr txBox="true"/>
            <p:nvPr/>
          </p:nvSpPr>
          <p:spPr>
            <a:xfrm>
              <a:off x="0" y="-38100"/>
              <a:ext cx="4930160" cy="58088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224518" y="355506"/>
            <a:ext cx="381676" cy="1140255"/>
            <a:chOff x="0" y="0"/>
            <a:chExt cx="100524" cy="300314"/>
          </a:xfrm>
        </p:grpSpPr>
        <p:sp>
          <p:nvSpPr>
            <p:cNvPr name="Freeform 6" id="6"/>
            <p:cNvSpPr/>
            <p:nvPr/>
          </p:nvSpPr>
          <p:spPr>
            <a:xfrm flipH="false" flipV="false" rot="0">
              <a:off x="0" y="0"/>
              <a:ext cx="100524" cy="300314"/>
            </a:xfrm>
            <a:custGeom>
              <a:avLst/>
              <a:gdLst/>
              <a:ahLst/>
              <a:cxnLst/>
              <a:rect r="r" b="b" t="t" l="l"/>
              <a:pathLst>
                <a:path h="300314" w="100524">
                  <a:moveTo>
                    <a:pt x="0" y="0"/>
                  </a:moveTo>
                  <a:lnTo>
                    <a:pt x="100524" y="0"/>
                  </a:lnTo>
                  <a:lnTo>
                    <a:pt x="100524" y="300314"/>
                  </a:lnTo>
                  <a:lnTo>
                    <a:pt x="0" y="300314"/>
                  </a:lnTo>
                  <a:close/>
                </a:path>
              </a:pathLst>
            </a:custGeom>
            <a:solidFill>
              <a:srgbClr val="3065CB"/>
            </a:solidFill>
          </p:spPr>
        </p:sp>
        <p:sp>
          <p:nvSpPr>
            <p:cNvPr name="TextBox 7" id="7"/>
            <p:cNvSpPr txBox="true"/>
            <p:nvPr/>
          </p:nvSpPr>
          <p:spPr>
            <a:xfrm>
              <a:off x="0" y="-38100"/>
              <a:ext cx="100524" cy="33841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47658" y="355506"/>
            <a:ext cx="491550" cy="1140255"/>
            <a:chOff x="0" y="0"/>
            <a:chExt cx="129462" cy="300314"/>
          </a:xfrm>
        </p:grpSpPr>
        <p:sp>
          <p:nvSpPr>
            <p:cNvPr name="Freeform 9" id="9"/>
            <p:cNvSpPr/>
            <p:nvPr/>
          </p:nvSpPr>
          <p:spPr>
            <a:xfrm flipH="false" flipV="false" rot="0">
              <a:off x="0" y="0"/>
              <a:ext cx="129462" cy="300314"/>
            </a:xfrm>
            <a:custGeom>
              <a:avLst/>
              <a:gdLst/>
              <a:ahLst/>
              <a:cxnLst/>
              <a:rect r="r" b="b" t="t" l="l"/>
              <a:pathLst>
                <a:path h="300314" w="129462">
                  <a:moveTo>
                    <a:pt x="0" y="0"/>
                  </a:moveTo>
                  <a:lnTo>
                    <a:pt x="129462" y="0"/>
                  </a:lnTo>
                  <a:lnTo>
                    <a:pt x="129462" y="300314"/>
                  </a:lnTo>
                  <a:lnTo>
                    <a:pt x="0" y="300314"/>
                  </a:lnTo>
                  <a:close/>
                </a:path>
              </a:pathLst>
            </a:custGeom>
            <a:gradFill rotWithShape="true">
              <a:gsLst>
                <a:gs pos="0">
                  <a:srgbClr val="C08846">
                    <a:alpha val="100000"/>
                  </a:srgbClr>
                </a:gs>
                <a:gs pos="100000">
                  <a:srgbClr val="FFC87B">
                    <a:alpha val="100000"/>
                  </a:srgbClr>
                </a:gs>
              </a:gsLst>
              <a:lin ang="5400000"/>
            </a:gradFill>
          </p:spPr>
        </p:sp>
        <p:sp>
          <p:nvSpPr>
            <p:cNvPr name="TextBox 10" id="10"/>
            <p:cNvSpPr txBox="true"/>
            <p:nvPr/>
          </p:nvSpPr>
          <p:spPr>
            <a:xfrm>
              <a:off x="0" y="-38100"/>
              <a:ext cx="129462" cy="338414"/>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3707143" y="232132"/>
            <a:ext cx="4325936" cy="1387003"/>
          </a:xfrm>
          <a:custGeom>
            <a:avLst/>
            <a:gdLst/>
            <a:ahLst/>
            <a:cxnLst/>
            <a:rect r="r" b="b" t="t" l="l"/>
            <a:pathLst>
              <a:path h="1387003" w="4325936">
                <a:moveTo>
                  <a:pt x="0" y="0"/>
                </a:moveTo>
                <a:lnTo>
                  <a:pt x="4325936" y="0"/>
                </a:lnTo>
                <a:lnTo>
                  <a:pt x="4325936" y="1387003"/>
                </a:lnTo>
                <a:lnTo>
                  <a:pt x="0" y="1387003"/>
                </a:lnTo>
                <a:lnTo>
                  <a:pt x="0" y="0"/>
                </a:lnTo>
                <a:close/>
              </a:path>
            </a:pathLst>
          </a:custGeom>
          <a:blipFill>
            <a:blip r:embed="rId2"/>
            <a:stretch>
              <a:fillRect l="0" t="0" r="0" b="0"/>
            </a:stretch>
          </a:blipFill>
        </p:spPr>
      </p:sp>
      <p:sp>
        <p:nvSpPr>
          <p:cNvPr name="Freeform 12" id="12"/>
          <p:cNvSpPr/>
          <p:nvPr/>
        </p:nvSpPr>
        <p:spPr>
          <a:xfrm flipH="false" flipV="false" rot="0">
            <a:off x="-223510" y="1858204"/>
            <a:ext cx="18474073" cy="8428796"/>
          </a:xfrm>
          <a:custGeom>
            <a:avLst/>
            <a:gdLst/>
            <a:ahLst/>
            <a:cxnLst/>
            <a:rect r="r" b="b" t="t" l="l"/>
            <a:pathLst>
              <a:path h="8428796" w="18474073">
                <a:moveTo>
                  <a:pt x="0" y="0"/>
                </a:moveTo>
                <a:lnTo>
                  <a:pt x="18474073" y="0"/>
                </a:lnTo>
                <a:lnTo>
                  <a:pt x="18474073" y="8428796"/>
                </a:lnTo>
                <a:lnTo>
                  <a:pt x="0" y="8428796"/>
                </a:lnTo>
                <a:lnTo>
                  <a:pt x="0" y="0"/>
                </a:lnTo>
                <a:close/>
              </a:path>
            </a:pathLst>
          </a:custGeom>
          <a:blipFill>
            <a:blip r:embed="rId3"/>
            <a:stretch>
              <a:fillRect l="0" t="0" r="0" b="0"/>
            </a:stretch>
          </a:blipFill>
        </p:spPr>
      </p:sp>
      <p:sp>
        <p:nvSpPr>
          <p:cNvPr name="TextBox 13" id="13"/>
          <p:cNvSpPr txBox="true"/>
          <p:nvPr/>
        </p:nvSpPr>
        <p:spPr>
          <a:xfrm rot="0">
            <a:off x="1028700" y="520817"/>
            <a:ext cx="9807234" cy="1499236"/>
          </a:xfrm>
          <a:prstGeom prst="rect">
            <a:avLst/>
          </a:prstGeom>
        </p:spPr>
        <p:txBody>
          <a:bodyPr anchor="t" rtlCol="false" tIns="0" lIns="0" bIns="0" rIns="0">
            <a:spAutoFit/>
          </a:bodyPr>
          <a:lstStyle/>
          <a:p>
            <a:pPr algn="l">
              <a:lnSpc>
                <a:spcPts val="5879"/>
              </a:lnSpc>
              <a:spcBef>
                <a:spcPct val="0"/>
              </a:spcBef>
            </a:pPr>
            <a:r>
              <a:rPr lang="en-US" b="true" sz="4199" i="true">
                <a:solidFill>
                  <a:srgbClr val="061647"/>
                </a:solidFill>
                <a:latin typeface="Proxima Nova Bold Italics"/>
                <a:ea typeface="Proxima Nova Bold Italics"/>
                <a:cs typeface="Proxima Nova Bold Italics"/>
                <a:sym typeface="Proxima Nova Bold Italics"/>
              </a:rPr>
              <a:t>KIẾN TRÚC &amp; NGUYÊN LÝ HOẠT ĐỘNG</a:t>
            </a:r>
          </a:p>
          <a:p>
            <a:pPr algn="l">
              <a:lnSpc>
                <a:spcPts val="6299"/>
              </a:lnSpc>
              <a:spcBef>
                <a:spcPct val="0"/>
              </a:spcBef>
            </a:pPr>
          </a:p>
        </p:txBody>
      </p:sp>
    </p:spTree>
  </p:cSld>
  <p:clrMapOvr>
    <a:masterClrMapping/>
  </p:clrMapOvr>
  <p:transition spd="fast">
    <p:cover dir="rd"/>
  </p:transition>
</p:sld>
</file>

<file path=ppt/slides/slide7.xml><?xml version="1.0" encoding="utf-8"?>
<p:sld xmlns:p="http://schemas.openxmlformats.org/presentationml/2006/main" xmlns:a="http://schemas.openxmlformats.org/drawingml/2006/main">
  <p:cSld>
    <p:bg>
      <p:bgPr>
        <a:gradFill rotWithShape="true">
          <a:gsLst>
            <a:gs pos="0">
              <a:srgbClr val="F5FCFF">
                <a:alpha val="100000"/>
              </a:srgbClr>
            </a:gs>
            <a:gs pos="33333">
              <a:srgbClr val="F5FCFF">
                <a:alpha val="100000"/>
              </a:srgbClr>
            </a:gs>
            <a:gs pos="66667">
              <a:srgbClr val="F5FCFF">
                <a:alpha val="100000"/>
              </a:srgbClr>
            </a:gs>
            <a:gs pos="100000">
              <a:srgbClr val="C5E3FF">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89806" y="-202673"/>
            <a:ext cx="18719200" cy="1431252"/>
            <a:chOff x="0" y="0"/>
            <a:chExt cx="4930160" cy="376955"/>
          </a:xfrm>
        </p:grpSpPr>
        <p:sp>
          <p:nvSpPr>
            <p:cNvPr name="Freeform 3" id="3"/>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4" id="4"/>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89806" y="439295"/>
            <a:ext cx="347972" cy="513715"/>
            <a:chOff x="0" y="0"/>
            <a:chExt cx="91647" cy="135299"/>
          </a:xfrm>
        </p:grpSpPr>
        <p:sp>
          <p:nvSpPr>
            <p:cNvPr name="Freeform 6" id="6"/>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7" id="7"/>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65152" y="439295"/>
            <a:ext cx="493718" cy="513715"/>
            <a:chOff x="0" y="0"/>
            <a:chExt cx="130033" cy="135299"/>
          </a:xfrm>
        </p:grpSpPr>
        <p:sp>
          <p:nvSpPr>
            <p:cNvPr name="Freeform 9" id="9"/>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0" id="10"/>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73783" y="1114986"/>
            <a:ext cx="4503619" cy="450361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C08846">
                    <a:alpha val="100000"/>
                  </a:srgbClr>
                </a:gs>
                <a:gs pos="100000">
                  <a:srgbClr val="FFC87B">
                    <a:alpha val="100000"/>
                  </a:srgbClr>
                </a:gs>
              </a:gsLst>
              <a:lin ang="5400000"/>
            </a:gradFill>
            <a:ln w="38100" cap="rnd">
              <a:solidFill>
                <a:srgbClr val="FFFFFF"/>
              </a:solidFill>
              <a:prstDash val="solid"/>
              <a:round/>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12255232" y="1310722"/>
            <a:ext cx="4112147" cy="411214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C08846">
                    <a:alpha val="100000"/>
                  </a:srgbClr>
                </a:gs>
                <a:gs pos="100000">
                  <a:srgbClr val="FFC87B">
                    <a:alpha val="100000"/>
                  </a:srgbClr>
                </a:gs>
              </a:gsLst>
              <a:lin ang="5400000"/>
            </a:gradFill>
            <a:ln w="38100" cap="rnd">
              <a:solidFill>
                <a:srgbClr val="FFFFFF"/>
              </a:solidFill>
              <a:prstDash val="solid"/>
              <a:round/>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7" id="17"/>
          <p:cNvGrpSpPr/>
          <p:nvPr/>
        </p:nvGrpSpPr>
        <p:grpSpPr>
          <a:xfrm rot="0">
            <a:off x="6705195" y="1114986"/>
            <a:ext cx="4503619" cy="450361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235BBB">
                    <a:alpha val="100000"/>
                  </a:srgbClr>
                </a:gs>
                <a:gs pos="100000">
                  <a:srgbClr val="347FFF">
                    <a:alpha val="100000"/>
                  </a:srgbClr>
                </a:gs>
              </a:gsLst>
              <a:lin ang="5400000"/>
            </a:gradFill>
            <a:ln w="38100" cap="rnd">
              <a:solidFill>
                <a:srgbClr val="FFFFFF"/>
              </a:solidFill>
              <a:prstDash val="solid"/>
              <a:round/>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0" id="20"/>
          <p:cNvGrpSpPr/>
          <p:nvPr/>
        </p:nvGrpSpPr>
        <p:grpSpPr>
          <a:xfrm rot="5400000">
            <a:off x="5768972" y="3103528"/>
            <a:ext cx="831561" cy="526535"/>
            <a:chOff x="0" y="0"/>
            <a:chExt cx="740010" cy="468566"/>
          </a:xfrm>
        </p:grpSpPr>
        <p:sp>
          <p:nvSpPr>
            <p:cNvPr name="Freeform 21" id="21"/>
            <p:cNvSpPr/>
            <p:nvPr/>
          </p:nvSpPr>
          <p:spPr>
            <a:xfrm flipH="false" flipV="false" rot="0">
              <a:off x="0" y="0"/>
              <a:ext cx="740010" cy="468566"/>
            </a:xfrm>
            <a:custGeom>
              <a:avLst/>
              <a:gdLst/>
              <a:ahLst/>
              <a:cxnLst/>
              <a:rect r="r" b="b" t="t" l="l"/>
              <a:pathLst>
                <a:path h="468566" w="740010">
                  <a:moveTo>
                    <a:pt x="370005" y="0"/>
                  </a:moveTo>
                  <a:lnTo>
                    <a:pt x="740010" y="468566"/>
                  </a:lnTo>
                  <a:lnTo>
                    <a:pt x="0" y="468566"/>
                  </a:lnTo>
                  <a:lnTo>
                    <a:pt x="370005" y="0"/>
                  </a:lnTo>
                  <a:close/>
                </a:path>
              </a:pathLst>
            </a:custGeom>
            <a:solidFill>
              <a:srgbClr val="002772"/>
            </a:solidFill>
          </p:spPr>
        </p:sp>
        <p:sp>
          <p:nvSpPr>
            <p:cNvPr name="TextBox 22" id="22"/>
            <p:cNvSpPr txBox="true"/>
            <p:nvPr/>
          </p:nvSpPr>
          <p:spPr>
            <a:xfrm>
              <a:off x="115627" y="179448"/>
              <a:ext cx="508757" cy="255648"/>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4519147">
            <a:off x="11410254" y="3103528"/>
            <a:ext cx="831561" cy="526535"/>
            <a:chOff x="0" y="0"/>
            <a:chExt cx="740010" cy="468566"/>
          </a:xfrm>
        </p:grpSpPr>
        <p:sp>
          <p:nvSpPr>
            <p:cNvPr name="Freeform 24" id="24"/>
            <p:cNvSpPr/>
            <p:nvPr/>
          </p:nvSpPr>
          <p:spPr>
            <a:xfrm flipH="false" flipV="false" rot="0">
              <a:off x="0" y="0"/>
              <a:ext cx="740010" cy="468566"/>
            </a:xfrm>
            <a:custGeom>
              <a:avLst/>
              <a:gdLst/>
              <a:ahLst/>
              <a:cxnLst/>
              <a:rect r="r" b="b" t="t" l="l"/>
              <a:pathLst>
                <a:path h="468566" w="740010">
                  <a:moveTo>
                    <a:pt x="370005" y="0"/>
                  </a:moveTo>
                  <a:lnTo>
                    <a:pt x="740010" y="468566"/>
                  </a:lnTo>
                  <a:lnTo>
                    <a:pt x="0" y="468566"/>
                  </a:lnTo>
                  <a:lnTo>
                    <a:pt x="370005" y="0"/>
                  </a:lnTo>
                  <a:close/>
                </a:path>
              </a:pathLst>
            </a:custGeom>
            <a:solidFill>
              <a:srgbClr val="002772"/>
            </a:solidFill>
          </p:spPr>
        </p:sp>
        <p:sp>
          <p:nvSpPr>
            <p:cNvPr name="TextBox 25" id="25"/>
            <p:cNvSpPr txBox="true"/>
            <p:nvPr/>
          </p:nvSpPr>
          <p:spPr>
            <a:xfrm>
              <a:off x="115627" y="179448"/>
              <a:ext cx="508757" cy="255648"/>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1028700" y="382145"/>
            <a:ext cx="10180114" cy="570865"/>
          </a:xfrm>
          <a:prstGeom prst="rect">
            <a:avLst/>
          </a:prstGeom>
        </p:spPr>
        <p:txBody>
          <a:bodyPr anchor="t" rtlCol="false" tIns="0" lIns="0" bIns="0" rIns="0">
            <a:spAutoFit/>
          </a:bodyPr>
          <a:lstStyle/>
          <a:p>
            <a:pPr algn="l">
              <a:lnSpc>
                <a:spcPts val="4759"/>
              </a:lnSpc>
              <a:spcBef>
                <a:spcPct val="0"/>
              </a:spcBef>
            </a:pPr>
            <a:r>
              <a:rPr lang="en-US" b="true" sz="3399" i="true">
                <a:solidFill>
                  <a:srgbClr val="061647"/>
                </a:solidFill>
                <a:latin typeface="Proxima Nova Heavy Italics"/>
                <a:ea typeface="Proxima Nova Heavy Italics"/>
                <a:cs typeface="Proxima Nova Heavy Italics"/>
                <a:sym typeface="Proxima Nova Heavy Italics"/>
              </a:rPr>
              <a:t>LUỒNG NGƯỜI DÙNG</a:t>
            </a:r>
          </a:p>
        </p:txBody>
      </p:sp>
      <p:sp>
        <p:nvSpPr>
          <p:cNvPr name="TextBox 27" id="27"/>
          <p:cNvSpPr txBox="true"/>
          <p:nvPr/>
        </p:nvSpPr>
        <p:spPr>
          <a:xfrm rot="0">
            <a:off x="7353561" y="2725446"/>
            <a:ext cx="3206887" cy="1216025"/>
          </a:xfrm>
          <a:prstGeom prst="rect">
            <a:avLst/>
          </a:prstGeom>
        </p:spPr>
        <p:txBody>
          <a:bodyPr anchor="t" rtlCol="false" tIns="0" lIns="0" bIns="0" rIns="0">
            <a:spAutoFit/>
          </a:bodyPr>
          <a:lstStyle/>
          <a:p>
            <a:pPr algn="ctr">
              <a:lnSpc>
                <a:spcPts val="4900"/>
              </a:lnSpc>
            </a:pPr>
            <a:r>
              <a:rPr lang="en-US" b="true" sz="3500" i="true">
                <a:solidFill>
                  <a:srgbClr val="FFFFFF"/>
                </a:solidFill>
                <a:latin typeface="Proxima Nova Bold Italics"/>
                <a:ea typeface="Proxima Nova Bold Italics"/>
                <a:cs typeface="Proxima Nova Bold Italics"/>
                <a:sym typeface="Proxima Nova Bold Italics"/>
              </a:rPr>
              <a:t>Đăng nhập tài khoản</a:t>
            </a:r>
          </a:p>
        </p:txBody>
      </p:sp>
      <p:sp>
        <p:nvSpPr>
          <p:cNvPr name="TextBox 28" id="28"/>
          <p:cNvSpPr txBox="true"/>
          <p:nvPr/>
        </p:nvSpPr>
        <p:spPr>
          <a:xfrm rot="0">
            <a:off x="1543725" y="3044533"/>
            <a:ext cx="3563735" cy="587375"/>
          </a:xfrm>
          <a:prstGeom prst="rect">
            <a:avLst/>
          </a:prstGeom>
        </p:spPr>
        <p:txBody>
          <a:bodyPr anchor="t" rtlCol="false" tIns="0" lIns="0" bIns="0" rIns="0">
            <a:spAutoFit/>
          </a:bodyPr>
          <a:lstStyle/>
          <a:p>
            <a:pPr algn="ctr">
              <a:lnSpc>
                <a:spcPts val="4899"/>
              </a:lnSpc>
            </a:pPr>
            <a:r>
              <a:rPr lang="en-US" b="true" sz="3499" i="true">
                <a:solidFill>
                  <a:srgbClr val="FFFFFF"/>
                </a:solidFill>
                <a:latin typeface="Proxima Nova Bold Italics"/>
                <a:ea typeface="Proxima Nova Bold Italics"/>
                <a:cs typeface="Proxima Nova Bold Italics"/>
                <a:sym typeface="Proxima Nova Bold Italics"/>
              </a:rPr>
              <a:t>Mở ứng dụng</a:t>
            </a:r>
          </a:p>
        </p:txBody>
      </p:sp>
      <p:sp>
        <p:nvSpPr>
          <p:cNvPr name="TextBox 29" id="29"/>
          <p:cNvSpPr txBox="true"/>
          <p:nvPr/>
        </p:nvSpPr>
        <p:spPr>
          <a:xfrm rot="0">
            <a:off x="12902974" y="2415883"/>
            <a:ext cx="2816664" cy="1835150"/>
          </a:xfrm>
          <a:prstGeom prst="rect">
            <a:avLst/>
          </a:prstGeom>
        </p:spPr>
        <p:txBody>
          <a:bodyPr anchor="t" rtlCol="false" tIns="0" lIns="0" bIns="0" rIns="0">
            <a:spAutoFit/>
          </a:bodyPr>
          <a:lstStyle/>
          <a:p>
            <a:pPr algn="ctr">
              <a:lnSpc>
                <a:spcPts val="4900"/>
              </a:lnSpc>
            </a:pPr>
            <a:r>
              <a:rPr lang="en-US" b="true" sz="3500" i="true">
                <a:solidFill>
                  <a:srgbClr val="FFFFFF"/>
                </a:solidFill>
                <a:latin typeface="Proxima Nova Bold Italics"/>
                <a:ea typeface="Proxima Nova Bold Italics"/>
                <a:cs typeface="Proxima Nova Bold Italics"/>
                <a:sym typeface="Proxima Nova Bold Italics"/>
              </a:rPr>
              <a:t>Kích hoạt xác thực sinh trắc học</a:t>
            </a:r>
          </a:p>
        </p:txBody>
      </p:sp>
      <p:grpSp>
        <p:nvGrpSpPr>
          <p:cNvPr name="Group 30" id="30"/>
          <p:cNvGrpSpPr/>
          <p:nvPr/>
        </p:nvGrpSpPr>
        <p:grpSpPr>
          <a:xfrm rot="0">
            <a:off x="12255232" y="6174853"/>
            <a:ext cx="4112147" cy="4112147"/>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235BBB">
                    <a:alpha val="100000"/>
                  </a:srgbClr>
                </a:gs>
                <a:gs pos="100000">
                  <a:srgbClr val="347FFF">
                    <a:alpha val="100000"/>
                  </a:srgbClr>
                </a:gs>
              </a:gsLst>
              <a:lin ang="5400000"/>
            </a:gradFill>
            <a:ln w="38100" cap="rnd">
              <a:solidFill>
                <a:srgbClr val="FFFFFF"/>
              </a:solidFill>
              <a:prstDash val="solid"/>
              <a:round/>
            </a:ln>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3" id="33"/>
          <p:cNvGrpSpPr/>
          <p:nvPr/>
        </p:nvGrpSpPr>
        <p:grpSpPr>
          <a:xfrm rot="0">
            <a:off x="6705195" y="5783381"/>
            <a:ext cx="4503619" cy="4503619"/>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C08846">
                    <a:alpha val="100000"/>
                  </a:srgbClr>
                </a:gs>
                <a:gs pos="100000">
                  <a:srgbClr val="FFC87B">
                    <a:alpha val="100000"/>
                  </a:srgbClr>
                </a:gs>
              </a:gsLst>
              <a:lin ang="5400000"/>
            </a:gradFill>
            <a:ln w="38100" cap="rnd">
              <a:solidFill>
                <a:srgbClr val="FFFFFF"/>
              </a:solidFill>
              <a:prstDash val="solid"/>
              <a:round/>
            </a:ln>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6" id="36"/>
          <p:cNvGrpSpPr/>
          <p:nvPr/>
        </p:nvGrpSpPr>
        <p:grpSpPr>
          <a:xfrm rot="0">
            <a:off x="1073783" y="5780530"/>
            <a:ext cx="4503619" cy="4503619"/>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235BBB">
                    <a:alpha val="100000"/>
                  </a:srgbClr>
                </a:gs>
                <a:gs pos="100000">
                  <a:srgbClr val="347FFF">
                    <a:alpha val="100000"/>
                  </a:srgbClr>
                </a:gs>
              </a:gsLst>
              <a:lin ang="5400000"/>
            </a:gradFill>
            <a:ln w="38100" cap="rnd">
              <a:solidFill>
                <a:srgbClr val="FFFFFF"/>
              </a:solidFill>
              <a:prstDash val="solid"/>
              <a:round/>
            </a:ln>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9" id="39"/>
          <p:cNvGrpSpPr/>
          <p:nvPr/>
        </p:nvGrpSpPr>
        <p:grpSpPr>
          <a:xfrm rot="-10800000">
            <a:off x="13988257" y="5618605"/>
            <a:ext cx="831561" cy="526535"/>
            <a:chOff x="0" y="0"/>
            <a:chExt cx="740010" cy="468566"/>
          </a:xfrm>
        </p:grpSpPr>
        <p:sp>
          <p:nvSpPr>
            <p:cNvPr name="Freeform 40" id="40"/>
            <p:cNvSpPr/>
            <p:nvPr/>
          </p:nvSpPr>
          <p:spPr>
            <a:xfrm flipH="false" flipV="false" rot="0">
              <a:off x="0" y="0"/>
              <a:ext cx="740010" cy="468566"/>
            </a:xfrm>
            <a:custGeom>
              <a:avLst/>
              <a:gdLst/>
              <a:ahLst/>
              <a:cxnLst/>
              <a:rect r="r" b="b" t="t" l="l"/>
              <a:pathLst>
                <a:path h="468566" w="740010">
                  <a:moveTo>
                    <a:pt x="370005" y="0"/>
                  </a:moveTo>
                  <a:lnTo>
                    <a:pt x="740010" y="468566"/>
                  </a:lnTo>
                  <a:lnTo>
                    <a:pt x="0" y="468566"/>
                  </a:lnTo>
                  <a:lnTo>
                    <a:pt x="370005" y="0"/>
                  </a:lnTo>
                  <a:close/>
                </a:path>
              </a:pathLst>
            </a:custGeom>
            <a:solidFill>
              <a:srgbClr val="002772"/>
            </a:solidFill>
          </p:spPr>
        </p:sp>
        <p:sp>
          <p:nvSpPr>
            <p:cNvPr name="TextBox 41" id="41"/>
            <p:cNvSpPr txBox="true"/>
            <p:nvPr/>
          </p:nvSpPr>
          <p:spPr>
            <a:xfrm>
              <a:off x="115627" y="179448"/>
              <a:ext cx="508757" cy="255648"/>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12902974" y="7280014"/>
            <a:ext cx="2816664" cy="1835150"/>
          </a:xfrm>
          <a:prstGeom prst="rect">
            <a:avLst/>
          </a:prstGeom>
        </p:spPr>
        <p:txBody>
          <a:bodyPr anchor="t" rtlCol="false" tIns="0" lIns="0" bIns="0" rIns="0">
            <a:spAutoFit/>
          </a:bodyPr>
          <a:lstStyle/>
          <a:p>
            <a:pPr algn="ctr">
              <a:lnSpc>
                <a:spcPts val="4900"/>
              </a:lnSpc>
            </a:pPr>
            <a:r>
              <a:rPr lang="en-US" b="true" sz="3500" i="true">
                <a:solidFill>
                  <a:srgbClr val="FFFFFF"/>
                </a:solidFill>
                <a:latin typeface="Proxima Nova Bold Italics"/>
                <a:ea typeface="Proxima Nova Bold Italics"/>
                <a:cs typeface="Proxima Nova Bold Italics"/>
                <a:sym typeface="Proxima Nova Bold Italics"/>
              </a:rPr>
              <a:t>Lần sau mở ứng dụng → chọn Vân tay</a:t>
            </a:r>
          </a:p>
        </p:txBody>
      </p:sp>
      <p:sp>
        <p:nvSpPr>
          <p:cNvPr name="TextBox 43" id="43"/>
          <p:cNvSpPr txBox="true"/>
          <p:nvPr/>
        </p:nvSpPr>
        <p:spPr>
          <a:xfrm rot="0">
            <a:off x="7548672" y="7081427"/>
            <a:ext cx="2816664" cy="1835150"/>
          </a:xfrm>
          <a:prstGeom prst="rect">
            <a:avLst/>
          </a:prstGeom>
        </p:spPr>
        <p:txBody>
          <a:bodyPr anchor="t" rtlCol="false" tIns="0" lIns="0" bIns="0" rIns="0">
            <a:spAutoFit/>
          </a:bodyPr>
          <a:lstStyle/>
          <a:p>
            <a:pPr algn="ctr">
              <a:lnSpc>
                <a:spcPts val="4900"/>
              </a:lnSpc>
            </a:pPr>
            <a:r>
              <a:rPr lang="en-US" b="true" sz="3500" i="true">
                <a:solidFill>
                  <a:srgbClr val="FFFFFF"/>
                </a:solidFill>
                <a:latin typeface="Proxima Nova Bold Italics"/>
                <a:ea typeface="Proxima Nova Bold Italics"/>
                <a:cs typeface="Proxima Nova Bold Italics"/>
                <a:sym typeface="Proxima Nova Bold Italics"/>
              </a:rPr>
              <a:t>Hệ thống xác thực người dùng</a:t>
            </a:r>
          </a:p>
        </p:txBody>
      </p:sp>
      <p:sp>
        <p:nvSpPr>
          <p:cNvPr name="TextBox 44" id="44"/>
          <p:cNvSpPr txBox="true"/>
          <p:nvPr/>
        </p:nvSpPr>
        <p:spPr>
          <a:xfrm rot="0">
            <a:off x="1917260" y="6804025"/>
            <a:ext cx="2816664" cy="2454275"/>
          </a:xfrm>
          <a:prstGeom prst="rect">
            <a:avLst/>
          </a:prstGeom>
        </p:spPr>
        <p:txBody>
          <a:bodyPr anchor="t" rtlCol="false" tIns="0" lIns="0" bIns="0" rIns="0">
            <a:spAutoFit/>
          </a:bodyPr>
          <a:lstStyle/>
          <a:p>
            <a:pPr algn="ctr">
              <a:lnSpc>
                <a:spcPts val="4900"/>
              </a:lnSpc>
            </a:pPr>
            <a:r>
              <a:rPr lang="en-US" b="true" sz="3500" i="true">
                <a:solidFill>
                  <a:srgbClr val="FFFFFF"/>
                </a:solidFill>
                <a:latin typeface="Proxima Nova Bold Italics"/>
                <a:ea typeface="Proxima Nova Bold Italics"/>
                <a:cs typeface="Proxima Nova Bold Italics"/>
                <a:sym typeface="Proxima Nova Bold Italics"/>
              </a:rPr>
              <a:t>Xác thực thành công → truy cập ứng dụng</a:t>
            </a:r>
          </a:p>
        </p:txBody>
      </p:sp>
      <p:grpSp>
        <p:nvGrpSpPr>
          <p:cNvPr name="Group 45" id="45"/>
          <p:cNvGrpSpPr/>
          <p:nvPr/>
        </p:nvGrpSpPr>
        <p:grpSpPr>
          <a:xfrm rot="-5400000">
            <a:off x="11313476" y="7769072"/>
            <a:ext cx="831561" cy="526535"/>
            <a:chOff x="0" y="0"/>
            <a:chExt cx="740010" cy="468566"/>
          </a:xfrm>
        </p:grpSpPr>
        <p:sp>
          <p:nvSpPr>
            <p:cNvPr name="Freeform 46" id="46"/>
            <p:cNvSpPr/>
            <p:nvPr/>
          </p:nvSpPr>
          <p:spPr>
            <a:xfrm flipH="false" flipV="false" rot="0">
              <a:off x="0" y="0"/>
              <a:ext cx="740010" cy="468566"/>
            </a:xfrm>
            <a:custGeom>
              <a:avLst/>
              <a:gdLst/>
              <a:ahLst/>
              <a:cxnLst/>
              <a:rect r="r" b="b" t="t" l="l"/>
              <a:pathLst>
                <a:path h="468566" w="740010">
                  <a:moveTo>
                    <a:pt x="370005" y="0"/>
                  </a:moveTo>
                  <a:lnTo>
                    <a:pt x="740010" y="468566"/>
                  </a:lnTo>
                  <a:lnTo>
                    <a:pt x="0" y="468566"/>
                  </a:lnTo>
                  <a:lnTo>
                    <a:pt x="370005" y="0"/>
                  </a:lnTo>
                  <a:close/>
                </a:path>
              </a:pathLst>
            </a:custGeom>
            <a:solidFill>
              <a:srgbClr val="002772"/>
            </a:solidFill>
          </p:spPr>
        </p:sp>
        <p:sp>
          <p:nvSpPr>
            <p:cNvPr name="TextBox 47" id="47"/>
            <p:cNvSpPr txBox="true"/>
            <p:nvPr/>
          </p:nvSpPr>
          <p:spPr>
            <a:xfrm>
              <a:off x="115627" y="179448"/>
              <a:ext cx="508757" cy="255648"/>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5400000">
            <a:off x="5768972" y="7769072"/>
            <a:ext cx="831561" cy="526535"/>
            <a:chOff x="0" y="0"/>
            <a:chExt cx="740010" cy="468566"/>
          </a:xfrm>
        </p:grpSpPr>
        <p:sp>
          <p:nvSpPr>
            <p:cNvPr name="Freeform 49" id="49"/>
            <p:cNvSpPr/>
            <p:nvPr/>
          </p:nvSpPr>
          <p:spPr>
            <a:xfrm flipH="false" flipV="false" rot="0">
              <a:off x="0" y="0"/>
              <a:ext cx="740010" cy="468566"/>
            </a:xfrm>
            <a:custGeom>
              <a:avLst/>
              <a:gdLst/>
              <a:ahLst/>
              <a:cxnLst/>
              <a:rect r="r" b="b" t="t" l="l"/>
              <a:pathLst>
                <a:path h="468566" w="740010">
                  <a:moveTo>
                    <a:pt x="370005" y="0"/>
                  </a:moveTo>
                  <a:lnTo>
                    <a:pt x="740010" y="468566"/>
                  </a:lnTo>
                  <a:lnTo>
                    <a:pt x="0" y="468566"/>
                  </a:lnTo>
                  <a:lnTo>
                    <a:pt x="370005" y="0"/>
                  </a:lnTo>
                  <a:close/>
                </a:path>
              </a:pathLst>
            </a:custGeom>
            <a:solidFill>
              <a:srgbClr val="002772"/>
            </a:solidFill>
          </p:spPr>
        </p:sp>
        <p:sp>
          <p:nvSpPr>
            <p:cNvPr name="TextBox 50" id="50"/>
            <p:cNvSpPr txBox="true"/>
            <p:nvPr/>
          </p:nvSpPr>
          <p:spPr>
            <a:xfrm>
              <a:off x="115627" y="179448"/>
              <a:ext cx="508757" cy="255648"/>
            </a:xfrm>
            <a:prstGeom prst="rect">
              <a:avLst/>
            </a:prstGeom>
          </p:spPr>
          <p:txBody>
            <a:bodyPr anchor="ctr" rtlCol="false" tIns="50800" lIns="50800" bIns="50800" rIns="50800"/>
            <a:lstStyle/>
            <a:p>
              <a:pPr algn="ctr">
                <a:lnSpc>
                  <a:spcPts val="2659"/>
                </a:lnSpc>
              </a:pPr>
            </a:p>
          </p:txBody>
        </p:sp>
      </p:grpSp>
    </p:spTree>
  </p:cSld>
  <p:clrMapOvr>
    <a:masterClrMapping/>
  </p:clrMapOvr>
  <p:transition spd="fast">
    <p:cover dir="rd"/>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DE0E6">
                <a:alpha val="100000"/>
              </a:srgbClr>
            </a:gs>
            <a:gs pos="100000">
              <a:srgbClr val="004AAD">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89806" y="-202673"/>
            <a:ext cx="18719200" cy="1431252"/>
            <a:chOff x="0" y="0"/>
            <a:chExt cx="4930160" cy="376955"/>
          </a:xfrm>
        </p:grpSpPr>
        <p:sp>
          <p:nvSpPr>
            <p:cNvPr name="Freeform 3" id="3"/>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4" id="4"/>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89806" y="439295"/>
            <a:ext cx="347972" cy="513715"/>
            <a:chOff x="0" y="0"/>
            <a:chExt cx="91647" cy="135299"/>
          </a:xfrm>
        </p:grpSpPr>
        <p:sp>
          <p:nvSpPr>
            <p:cNvPr name="Freeform 6" id="6"/>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7" id="7"/>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65152" y="439295"/>
            <a:ext cx="493718" cy="513715"/>
            <a:chOff x="0" y="0"/>
            <a:chExt cx="130033" cy="135299"/>
          </a:xfrm>
        </p:grpSpPr>
        <p:sp>
          <p:nvSpPr>
            <p:cNvPr name="Freeform 9" id="9"/>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0" id="10"/>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3789717" y="-24979"/>
            <a:ext cx="4498283" cy="1442262"/>
          </a:xfrm>
          <a:custGeom>
            <a:avLst/>
            <a:gdLst/>
            <a:ahLst/>
            <a:cxnLst/>
            <a:rect r="r" b="b" t="t" l="l"/>
            <a:pathLst>
              <a:path h="1442262" w="4498283">
                <a:moveTo>
                  <a:pt x="0" y="0"/>
                </a:moveTo>
                <a:lnTo>
                  <a:pt x="4498283" y="0"/>
                </a:lnTo>
                <a:lnTo>
                  <a:pt x="4498283" y="1442262"/>
                </a:lnTo>
                <a:lnTo>
                  <a:pt x="0" y="1442262"/>
                </a:lnTo>
                <a:lnTo>
                  <a:pt x="0" y="0"/>
                </a:lnTo>
                <a:close/>
              </a:path>
            </a:pathLst>
          </a:custGeom>
          <a:blipFill>
            <a:blip r:embed="rId2"/>
            <a:stretch>
              <a:fillRect l="0" t="0" r="0" b="0"/>
            </a:stretch>
          </a:blipFill>
        </p:spPr>
      </p:sp>
      <p:grpSp>
        <p:nvGrpSpPr>
          <p:cNvPr name="Group 12" id="12"/>
          <p:cNvGrpSpPr/>
          <p:nvPr/>
        </p:nvGrpSpPr>
        <p:grpSpPr>
          <a:xfrm rot="0">
            <a:off x="8883227" y="1838826"/>
            <a:ext cx="8892936" cy="7914256"/>
            <a:chOff x="0" y="0"/>
            <a:chExt cx="2342172" cy="2084413"/>
          </a:xfrm>
        </p:grpSpPr>
        <p:sp>
          <p:nvSpPr>
            <p:cNvPr name="Freeform 13" id="13"/>
            <p:cNvSpPr/>
            <p:nvPr/>
          </p:nvSpPr>
          <p:spPr>
            <a:xfrm flipH="false" flipV="false" rot="0">
              <a:off x="0" y="0"/>
              <a:ext cx="2342173" cy="2084413"/>
            </a:xfrm>
            <a:custGeom>
              <a:avLst/>
              <a:gdLst/>
              <a:ahLst/>
              <a:cxnLst/>
              <a:rect r="r" b="b" t="t" l="l"/>
              <a:pathLst>
                <a:path h="2084413" w="2342173">
                  <a:moveTo>
                    <a:pt x="0" y="0"/>
                  </a:moveTo>
                  <a:lnTo>
                    <a:pt x="2342173" y="0"/>
                  </a:lnTo>
                  <a:lnTo>
                    <a:pt x="2342173" y="2084413"/>
                  </a:lnTo>
                  <a:lnTo>
                    <a:pt x="0" y="2084413"/>
                  </a:lnTo>
                  <a:close/>
                </a:path>
              </a:pathLst>
            </a:custGeom>
            <a:ln w="85725" cap="sq">
              <a:solidFill>
                <a:srgbClr val="000000"/>
              </a:solidFill>
              <a:prstDash val="solid"/>
              <a:miter/>
            </a:ln>
          </p:spPr>
        </p:sp>
        <p:sp>
          <p:nvSpPr>
            <p:cNvPr name="TextBox 14" id="14"/>
            <p:cNvSpPr txBox="true"/>
            <p:nvPr/>
          </p:nvSpPr>
          <p:spPr>
            <a:xfrm>
              <a:off x="0" y="-38100"/>
              <a:ext cx="2342172" cy="2122513"/>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419618" y="1509491"/>
            <a:ext cx="6530920" cy="8448174"/>
          </a:xfrm>
          <a:custGeom>
            <a:avLst/>
            <a:gdLst/>
            <a:ahLst/>
            <a:cxnLst/>
            <a:rect r="r" b="b" t="t" l="l"/>
            <a:pathLst>
              <a:path h="8448174" w="6530920">
                <a:moveTo>
                  <a:pt x="0" y="0"/>
                </a:moveTo>
                <a:lnTo>
                  <a:pt x="6530920" y="0"/>
                </a:lnTo>
                <a:lnTo>
                  <a:pt x="6530920" y="8448174"/>
                </a:lnTo>
                <a:lnTo>
                  <a:pt x="0" y="8448174"/>
                </a:lnTo>
                <a:lnTo>
                  <a:pt x="0" y="0"/>
                </a:lnTo>
                <a:close/>
              </a:path>
            </a:pathLst>
          </a:custGeom>
          <a:blipFill>
            <a:blip r:embed="rId3"/>
            <a:stretch>
              <a:fillRect l="-1668" t="-39308" r="-1668" b="-38215"/>
            </a:stretch>
          </a:blipFill>
        </p:spPr>
      </p:sp>
      <p:grpSp>
        <p:nvGrpSpPr>
          <p:cNvPr name="Group 16" id="16"/>
          <p:cNvGrpSpPr/>
          <p:nvPr/>
        </p:nvGrpSpPr>
        <p:grpSpPr>
          <a:xfrm rot="0">
            <a:off x="3831908" y="4837747"/>
            <a:ext cx="567690" cy="567690"/>
            <a:chOff x="0" y="0"/>
            <a:chExt cx="756920" cy="756920"/>
          </a:xfrm>
        </p:grpSpPr>
        <p:sp>
          <p:nvSpPr>
            <p:cNvPr name="Freeform 17" id="17"/>
            <p:cNvSpPr/>
            <p:nvPr/>
          </p:nvSpPr>
          <p:spPr>
            <a:xfrm flipH="false" flipV="false" rot="0">
              <a:off x="50073" y="46077"/>
              <a:ext cx="645887" cy="659559"/>
            </a:xfrm>
            <a:custGeom>
              <a:avLst/>
              <a:gdLst/>
              <a:ahLst/>
              <a:cxnLst/>
              <a:rect r="r" b="b" t="t" l="l"/>
              <a:pathLst>
                <a:path h="659559" w="645887">
                  <a:moveTo>
                    <a:pt x="645887" y="232053"/>
                  </a:moveTo>
                  <a:cubicBezTo>
                    <a:pt x="645887" y="439063"/>
                    <a:pt x="621757" y="493673"/>
                    <a:pt x="590007" y="533043"/>
                  </a:cubicBezTo>
                  <a:cubicBezTo>
                    <a:pt x="558257" y="573683"/>
                    <a:pt x="512537" y="609243"/>
                    <a:pt x="465547" y="630833"/>
                  </a:cubicBezTo>
                  <a:cubicBezTo>
                    <a:pt x="418557" y="652423"/>
                    <a:pt x="361407" y="662583"/>
                    <a:pt x="310607" y="658773"/>
                  </a:cubicBezTo>
                  <a:cubicBezTo>
                    <a:pt x="258537" y="656233"/>
                    <a:pt x="202657" y="638453"/>
                    <a:pt x="159477" y="611783"/>
                  </a:cubicBezTo>
                  <a:cubicBezTo>
                    <a:pt x="115027" y="586383"/>
                    <a:pt x="74387" y="544473"/>
                    <a:pt x="47717" y="500023"/>
                  </a:cubicBezTo>
                  <a:cubicBezTo>
                    <a:pt x="21047" y="456843"/>
                    <a:pt x="3267" y="400963"/>
                    <a:pt x="727" y="350163"/>
                  </a:cubicBezTo>
                  <a:cubicBezTo>
                    <a:pt x="-3083" y="298093"/>
                    <a:pt x="8347" y="240943"/>
                    <a:pt x="28667" y="193953"/>
                  </a:cubicBezTo>
                  <a:cubicBezTo>
                    <a:pt x="50257" y="146963"/>
                    <a:pt x="85817" y="101243"/>
                    <a:pt x="126457" y="69493"/>
                  </a:cubicBezTo>
                  <a:cubicBezTo>
                    <a:pt x="167097" y="37743"/>
                    <a:pt x="220437" y="13613"/>
                    <a:pt x="269967" y="4723"/>
                  </a:cubicBezTo>
                  <a:cubicBezTo>
                    <a:pt x="320767" y="-4167"/>
                    <a:pt x="379187" y="-357"/>
                    <a:pt x="428717" y="14883"/>
                  </a:cubicBezTo>
                  <a:cubicBezTo>
                    <a:pt x="476977" y="30123"/>
                    <a:pt x="563337" y="96163"/>
                    <a:pt x="563337" y="96163"/>
                  </a:cubicBezTo>
                </a:path>
              </a:pathLst>
            </a:custGeom>
            <a:solidFill>
              <a:srgbClr val="FFFFFF"/>
            </a:solidFill>
            <a:ln cap="sq">
              <a:noFill/>
              <a:prstDash val="solid"/>
              <a:miter/>
            </a:ln>
          </p:spPr>
        </p:sp>
      </p:grpSp>
      <p:grpSp>
        <p:nvGrpSpPr>
          <p:cNvPr name="Group 18" id="18"/>
          <p:cNvGrpSpPr/>
          <p:nvPr/>
        </p:nvGrpSpPr>
        <p:grpSpPr>
          <a:xfrm rot="0">
            <a:off x="3538538" y="4889182"/>
            <a:ext cx="1233488" cy="609600"/>
            <a:chOff x="0" y="0"/>
            <a:chExt cx="1644650" cy="812800"/>
          </a:xfrm>
        </p:grpSpPr>
        <p:sp>
          <p:nvSpPr>
            <p:cNvPr name="Freeform 19" id="19"/>
            <p:cNvSpPr/>
            <p:nvPr/>
          </p:nvSpPr>
          <p:spPr>
            <a:xfrm flipH="false" flipV="false" rot="0">
              <a:off x="50608" y="49297"/>
              <a:ext cx="1545147" cy="711433"/>
            </a:xfrm>
            <a:custGeom>
              <a:avLst/>
              <a:gdLst/>
              <a:ahLst/>
              <a:cxnLst/>
              <a:rect r="r" b="b" t="t" l="l"/>
              <a:pathLst>
                <a:path h="711433" w="1545147">
                  <a:moveTo>
                    <a:pt x="1207962" y="711433"/>
                  </a:moveTo>
                  <a:cubicBezTo>
                    <a:pt x="292292" y="694923"/>
                    <a:pt x="270702" y="692383"/>
                    <a:pt x="235142" y="680953"/>
                  </a:cubicBezTo>
                  <a:cubicBezTo>
                    <a:pt x="199582" y="668253"/>
                    <a:pt x="165292" y="649203"/>
                    <a:pt x="136082" y="627613"/>
                  </a:cubicBezTo>
                  <a:cubicBezTo>
                    <a:pt x="106872" y="604753"/>
                    <a:pt x="78932" y="575543"/>
                    <a:pt x="58612" y="543793"/>
                  </a:cubicBezTo>
                  <a:cubicBezTo>
                    <a:pt x="38292" y="513313"/>
                    <a:pt x="21782" y="477753"/>
                    <a:pt x="11622" y="440923"/>
                  </a:cubicBezTo>
                  <a:cubicBezTo>
                    <a:pt x="2732" y="405363"/>
                    <a:pt x="-1078" y="365993"/>
                    <a:pt x="1462" y="329163"/>
                  </a:cubicBezTo>
                  <a:cubicBezTo>
                    <a:pt x="2732" y="292333"/>
                    <a:pt x="11622" y="252963"/>
                    <a:pt x="25592" y="218673"/>
                  </a:cubicBezTo>
                  <a:cubicBezTo>
                    <a:pt x="39562" y="184383"/>
                    <a:pt x="61152" y="150093"/>
                    <a:pt x="85282" y="122153"/>
                  </a:cubicBezTo>
                  <a:cubicBezTo>
                    <a:pt x="109412" y="94213"/>
                    <a:pt x="139892" y="68813"/>
                    <a:pt x="171642" y="49763"/>
                  </a:cubicBezTo>
                  <a:cubicBezTo>
                    <a:pt x="203392" y="30713"/>
                    <a:pt x="241492" y="16743"/>
                    <a:pt x="277052" y="9123"/>
                  </a:cubicBezTo>
                  <a:cubicBezTo>
                    <a:pt x="313882" y="1503"/>
                    <a:pt x="353252" y="-1037"/>
                    <a:pt x="390082" y="4043"/>
                  </a:cubicBezTo>
                  <a:cubicBezTo>
                    <a:pt x="426912" y="7853"/>
                    <a:pt x="465012" y="19283"/>
                    <a:pt x="499302" y="34523"/>
                  </a:cubicBezTo>
                  <a:cubicBezTo>
                    <a:pt x="532322" y="51033"/>
                    <a:pt x="565342" y="73893"/>
                    <a:pt x="592012" y="99293"/>
                  </a:cubicBezTo>
                  <a:cubicBezTo>
                    <a:pt x="618682" y="124693"/>
                    <a:pt x="642812" y="156443"/>
                    <a:pt x="659322" y="189463"/>
                  </a:cubicBezTo>
                  <a:cubicBezTo>
                    <a:pt x="677102" y="222483"/>
                    <a:pt x="688532" y="260583"/>
                    <a:pt x="694882" y="297413"/>
                  </a:cubicBezTo>
                  <a:cubicBezTo>
                    <a:pt x="699962" y="334243"/>
                    <a:pt x="699962" y="373613"/>
                    <a:pt x="693612" y="410443"/>
                  </a:cubicBezTo>
                  <a:cubicBezTo>
                    <a:pt x="687262" y="447273"/>
                    <a:pt x="674562" y="484103"/>
                    <a:pt x="656782" y="517123"/>
                  </a:cubicBezTo>
                  <a:cubicBezTo>
                    <a:pt x="639002" y="550143"/>
                    <a:pt x="614872" y="580623"/>
                    <a:pt x="586932" y="606023"/>
                  </a:cubicBezTo>
                  <a:cubicBezTo>
                    <a:pt x="560262" y="631423"/>
                    <a:pt x="527242" y="653013"/>
                    <a:pt x="492952" y="669523"/>
                  </a:cubicBezTo>
                  <a:cubicBezTo>
                    <a:pt x="459932" y="684763"/>
                    <a:pt x="421832" y="694923"/>
                    <a:pt x="383732" y="698733"/>
                  </a:cubicBezTo>
                  <a:cubicBezTo>
                    <a:pt x="346902" y="702543"/>
                    <a:pt x="307532" y="700003"/>
                    <a:pt x="271972" y="691113"/>
                  </a:cubicBezTo>
                  <a:cubicBezTo>
                    <a:pt x="235142" y="683493"/>
                    <a:pt x="198312" y="668253"/>
                    <a:pt x="166562" y="647933"/>
                  </a:cubicBezTo>
                  <a:cubicBezTo>
                    <a:pt x="134812" y="628883"/>
                    <a:pt x="105602" y="603483"/>
                    <a:pt x="81472" y="574273"/>
                  </a:cubicBezTo>
                  <a:cubicBezTo>
                    <a:pt x="57342" y="546333"/>
                    <a:pt x="37022" y="512043"/>
                    <a:pt x="24322" y="477753"/>
                  </a:cubicBezTo>
                  <a:cubicBezTo>
                    <a:pt x="10352" y="442193"/>
                    <a:pt x="2732" y="404093"/>
                    <a:pt x="192" y="365993"/>
                  </a:cubicBezTo>
                  <a:cubicBezTo>
                    <a:pt x="-1078" y="329163"/>
                    <a:pt x="4002" y="289793"/>
                    <a:pt x="14162" y="254233"/>
                  </a:cubicBezTo>
                  <a:cubicBezTo>
                    <a:pt x="24322" y="218673"/>
                    <a:pt x="40832" y="183113"/>
                    <a:pt x="62422" y="152633"/>
                  </a:cubicBezTo>
                  <a:cubicBezTo>
                    <a:pt x="82742" y="122153"/>
                    <a:pt x="110682" y="92943"/>
                    <a:pt x="139892" y="71353"/>
                  </a:cubicBezTo>
                  <a:cubicBezTo>
                    <a:pt x="170372" y="48493"/>
                    <a:pt x="205932" y="30713"/>
                    <a:pt x="240222" y="19283"/>
                  </a:cubicBezTo>
                  <a:cubicBezTo>
                    <a:pt x="275782" y="6583"/>
                    <a:pt x="297372" y="4043"/>
                    <a:pt x="351982" y="1503"/>
                  </a:cubicBezTo>
                  <a:cubicBezTo>
                    <a:pt x="503112" y="-7387"/>
                    <a:pt x="1073342" y="25633"/>
                    <a:pt x="1207962" y="35793"/>
                  </a:cubicBezTo>
                  <a:cubicBezTo>
                    <a:pt x="1248602" y="39603"/>
                    <a:pt x="1262572" y="39603"/>
                    <a:pt x="1287972" y="45953"/>
                  </a:cubicBezTo>
                  <a:cubicBezTo>
                    <a:pt x="1314642" y="52303"/>
                    <a:pt x="1341312" y="62463"/>
                    <a:pt x="1364172" y="75163"/>
                  </a:cubicBezTo>
                  <a:cubicBezTo>
                    <a:pt x="1388302" y="87863"/>
                    <a:pt x="1411162" y="103103"/>
                    <a:pt x="1431482" y="120883"/>
                  </a:cubicBezTo>
                  <a:cubicBezTo>
                    <a:pt x="1451802" y="138663"/>
                    <a:pt x="1470852" y="160253"/>
                    <a:pt x="1486092" y="181843"/>
                  </a:cubicBezTo>
                  <a:cubicBezTo>
                    <a:pt x="1501332" y="204703"/>
                    <a:pt x="1514032" y="228833"/>
                    <a:pt x="1522922" y="254233"/>
                  </a:cubicBezTo>
                  <a:cubicBezTo>
                    <a:pt x="1533082" y="279633"/>
                    <a:pt x="1539432" y="306303"/>
                    <a:pt x="1543242" y="332973"/>
                  </a:cubicBezTo>
                  <a:cubicBezTo>
                    <a:pt x="1545782" y="359643"/>
                    <a:pt x="1545782" y="387583"/>
                    <a:pt x="1543242" y="414253"/>
                  </a:cubicBezTo>
                  <a:cubicBezTo>
                    <a:pt x="1539432" y="440923"/>
                    <a:pt x="1533082" y="468863"/>
                    <a:pt x="1522922" y="492993"/>
                  </a:cubicBezTo>
                  <a:cubicBezTo>
                    <a:pt x="1514032" y="518393"/>
                    <a:pt x="1501332" y="543793"/>
                    <a:pt x="1486092" y="565383"/>
                  </a:cubicBezTo>
                  <a:cubicBezTo>
                    <a:pt x="1470852" y="588243"/>
                    <a:pt x="1451802" y="608563"/>
                    <a:pt x="1431482" y="626343"/>
                  </a:cubicBezTo>
                  <a:cubicBezTo>
                    <a:pt x="1411162" y="644123"/>
                    <a:pt x="1388302" y="660633"/>
                    <a:pt x="1364172" y="673333"/>
                  </a:cubicBezTo>
                  <a:cubicBezTo>
                    <a:pt x="1341312" y="684763"/>
                    <a:pt x="1314642" y="694923"/>
                    <a:pt x="1287972" y="701273"/>
                  </a:cubicBezTo>
                  <a:cubicBezTo>
                    <a:pt x="1262572" y="707623"/>
                    <a:pt x="1207962" y="711433"/>
                    <a:pt x="1207962" y="711433"/>
                  </a:cubicBezTo>
                </a:path>
              </a:pathLst>
            </a:custGeom>
            <a:solidFill>
              <a:srgbClr val="FFFFFF"/>
            </a:solidFill>
            <a:ln cap="sq">
              <a:noFill/>
              <a:prstDash val="solid"/>
              <a:miter/>
            </a:ln>
          </p:spPr>
        </p:sp>
      </p:grpSp>
      <p:grpSp>
        <p:nvGrpSpPr>
          <p:cNvPr name="Group 20" id="20"/>
          <p:cNvGrpSpPr/>
          <p:nvPr/>
        </p:nvGrpSpPr>
        <p:grpSpPr>
          <a:xfrm rot="0">
            <a:off x="3344228" y="4907280"/>
            <a:ext cx="567690" cy="567690"/>
            <a:chOff x="0" y="0"/>
            <a:chExt cx="756920" cy="756920"/>
          </a:xfrm>
        </p:grpSpPr>
        <p:sp>
          <p:nvSpPr>
            <p:cNvPr name="Freeform 21" id="21"/>
            <p:cNvSpPr/>
            <p:nvPr/>
          </p:nvSpPr>
          <p:spPr>
            <a:xfrm flipH="false" flipV="false" rot="0">
              <a:off x="50418" y="46077"/>
              <a:ext cx="645542" cy="659559"/>
            </a:xfrm>
            <a:custGeom>
              <a:avLst/>
              <a:gdLst/>
              <a:ahLst/>
              <a:cxnLst/>
              <a:rect r="r" b="b" t="t" l="l"/>
              <a:pathLst>
                <a:path h="659559" w="645542">
                  <a:moveTo>
                    <a:pt x="645542" y="232053"/>
                  </a:moveTo>
                  <a:cubicBezTo>
                    <a:pt x="645542" y="439063"/>
                    <a:pt x="621412" y="493673"/>
                    <a:pt x="589662" y="533043"/>
                  </a:cubicBezTo>
                  <a:cubicBezTo>
                    <a:pt x="559182" y="573683"/>
                    <a:pt x="512192" y="610513"/>
                    <a:pt x="466472" y="630833"/>
                  </a:cubicBezTo>
                  <a:cubicBezTo>
                    <a:pt x="419482" y="652423"/>
                    <a:pt x="361062" y="662583"/>
                    <a:pt x="310262" y="658773"/>
                  </a:cubicBezTo>
                  <a:cubicBezTo>
                    <a:pt x="259462" y="656233"/>
                    <a:pt x="203582" y="638453"/>
                    <a:pt x="159132" y="611783"/>
                  </a:cubicBezTo>
                  <a:cubicBezTo>
                    <a:pt x="115952" y="586383"/>
                    <a:pt x="74042" y="544473"/>
                    <a:pt x="47372" y="500023"/>
                  </a:cubicBezTo>
                  <a:cubicBezTo>
                    <a:pt x="20702" y="456843"/>
                    <a:pt x="4192" y="400963"/>
                    <a:pt x="382" y="350163"/>
                  </a:cubicBezTo>
                  <a:cubicBezTo>
                    <a:pt x="-2158" y="298093"/>
                    <a:pt x="8002" y="240943"/>
                    <a:pt x="29592" y="193953"/>
                  </a:cubicBezTo>
                  <a:cubicBezTo>
                    <a:pt x="49912" y="146963"/>
                    <a:pt x="86742" y="101243"/>
                    <a:pt x="127382" y="69493"/>
                  </a:cubicBezTo>
                  <a:cubicBezTo>
                    <a:pt x="166752" y="37743"/>
                    <a:pt x="220092" y="13613"/>
                    <a:pt x="270892" y="4723"/>
                  </a:cubicBezTo>
                  <a:cubicBezTo>
                    <a:pt x="321692" y="-4167"/>
                    <a:pt x="380112" y="-357"/>
                    <a:pt x="428372" y="14883"/>
                  </a:cubicBezTo>
                  <a:cubicBezTo>
                    <a:pt x="477902" y="30123"/>
                    <a:pt x="564262" y="96163"/>
                    <a:pt x="564262" y="96163"/>
                  </a:cubicBezTo>
                </a:path>
              </a:pathLst>
            </a:custGeom>
            <a:solidFill>
              <a:srgbClr val="FFFFFF"/>
            </a:solidFill>
            <a:ln cap="sq">
              <a:noFill/>
              <a:prstDash val="solid"/>
              <a:miter/>
            </a:ln>
          </p:spPr>
        </p:sp>
      </p:grpSp>
      <p:grpSp>
        <p:nvGrpSpPr>
          <p:cNvPr name="Group 22" id="22"/>
          <p:cNvGrpSpPr/>
          <p:nvPr/>
        </p:nvGrpSpPr>
        <p:grpSpPr>
          <a:xfrm rot="0">
            <a:off x="3101340" y="4907280"/>
            <a:ext cx="567690" cy="567690"/>
            <a:chOff x="0" y="0"/>
            <a:chExt cx="756920" cy="756920"/>
          </a:xfrm>
        </p:grpSpPr>
        <p:sp>
          <p:nvSpPr>
            <p:cNvPr name="Freeform 23" id="23"/>
            <p:cNvSpPr/>
            <p:nvPr/>
          </p:nvSpPr>
          <p:spPr>
            <a:xfrm flipH="false" flipV="false" rot="0">
              <a:off x="50014" y="46077"/>
              <a:ext cx="644724" cy="659559"/>
            </a:xfrm>
            <a:custGeom>
              <a:avLst/>
              <a:gdLst/>
              <a:ahLst/>
              <a:cxnLst/>
              <a:rect r="r" b="b" t="t" l="l"/>
              <a:pathLst>
                <a:path h="659559" w="644724">
                  <a:moveTo>
                    <a:pt x="644676" y="232053"/>
                  </a:moveTo>
                  <a:cubicBezTo>
                    <a:pt x="645946" y="439063"/>
                    <a:pt x="621816" y="493673"/>
                    <a:pt x="590066" y="533043"/>
                  </a:cubicBezTo>
                  <a:cubicBezTo>
                    <a:pt x="558316" y="573683"/>
                    <a:pt x="512596" y="610513"/>
                    <a:pt x="465606" y="630833"/>
                  </a:cubicBezTo>
                  <a:cubicBezTo>
                    <a:pt x="418616" y="652423"/>
                    <a:pt x="361466" y="662583"/>
                    <a:pt x="309396" y="658773"/>
                  </a:cubicBezTo>
                  <a:cubicBezTo>
                    <a:pt x="258596" y="656233"/>
                    <a:pt x="202716" y="638453"/>
                    <a:pt x="159536" y="611783"/>
                  </a:cubicBezTo>
                  <a:cubicBezTo>
                    <a:pt x="115086" y="586383"/>
                    <a:pt x="73176" y="544473"/>
                    <a:pt x="47776" y="500023"/>
                  </a:cubicBezTo>
                  <a:cubicBezTo>
                    <a:pt x="21106" y="456843"/>
                    <a:pt x="3326" y="400963"/>
                    <a:pt x="786" y="350163"/>
                  </a:cubicBezTo>
                  <a:cubicBezTo>
                    <a:pt x="-3024" y="298093"/>
                    <a:pt x="7136" y="240943"/>
                    <a:pt x="28726" y="193953"/>
                  </a:cubicBezTo>
                  <a:cubicBezTo>
                    <a:pt x="50316" y="146963"/>
                    <a:pt x="85876" y="101243"/>
                    <a:pt x="126516" y="69493"/>
                  </a:cubicBezTo>
                  <a:cubicBezTo>
                    <a:pt x="165886" y="37743"/>
                    <a:pt x="220496" y="13613"/>
                    <a:pt x="270026" y="4723"/>
                  </a:cubicBezTo>
                  <a:cubicBezTo>
                    <a:pt x="320826" y="-4167"/>
                    <a:pt x="379246" y="-357"/>
                    <a:pt x="427506" y="14883"/>
                  </a:cubicBezTo>
                  <a:cubicBezTo>
                    <a:pt x="477036" y="30123"/>
                    <a:pt x="563396" y="96163"/>
                    <a:pt x="563396" y="96163"/>
                  </a:cubicBezTo>
                </a:path>
              </a:pathLst>
            </a:custGeom>
            <a:solidFill>
              <a:srgbClr val="FFFFFF"/>
            </a:solidFill>
            <a:ln cap="sq">
              <a:noFill/>
              <a:prstDash val="solid"/>
              <a:miter/>
            </a:ln>
          </p:spPr>
        </p:sp>
      </p:grpSp>
      <p:grpSp>
        <p:nvGrpSpPr>
          <p:cNvPr name="Group 24" id="24"/>
          <p:cNvGrpSpPr/>
          <p:nvPr/>
        </p:nvGrpSpPr>
        <p:grpSpPr>
          <a:xfrm rot="0">
            <a:off x="2770822" y="4872990"/>
            <a:ext cx="567690" cy="567690"/>
            <a:chOff x="0" y="0"/>
            <a:chExt cx="756920" cy="756920"/>
          </a:xfrm>
        </p:grpSpPr>
        <p:sp>
          <p:nvSpPr>
            <p:cNvPr name="Freeform 25" id="25"/>
            <p:cNvSpPr/>
            <p:nvPr/>
          </p:nvSpPr>
          <p:spPr>
            <a:xfrm flipH="false" flipV="false" rot="0">
              <a:off x="50014" y="45130"/>
              <a:ext cx="644724" cy="660104"/>
            </a:xfrm>
            <a:custGeom>
              <a:avLst/>
              <a:gdLst/>
              <a:ahLst/>
              <a:cxnLst/>
              <a:rect r="r" b="b" t="t" l="l"/>
              <a:pathLst>
                <a:path h="660104" w="644724">
                  <a:moveTo>
                    <a:pt x="644676" y="231730"/>
                  </a:moveTo>
                  <a:cubicBezTo>
                    <a:pt x="645946" y="440010"/>
                    <a:pt x="621816" y="493350"/>
                    <a:pt x="590066" y="533990"/>
                  </a:cubicBezTo>
                  <a:cubicBezTo>
                    <a:pt x="558316" y="573360"/>
                    <a:pt x="511326" y="610190"/>
                    <a:pt x="465606" y="631780"/>
                  </a:cubicBezTo>
                  <a:cubicBezTo>
                    <a:pt x="418616" y="652100"/>
                    <a:pt x="361466" y="662260"/>
                    <a:pt x="309396" y="659720"/>
                  </a:cubicBezTo>
                  <a:cubicBezTo>
                    <a:pt x="258596" y="657180"/>
                    <a:pt x="202716" y="639400"/>
                    <a:pt x="159536" y="612730"/>
                  </a:cubicBezTo>
                  <a:cubicBezTo>
                    <a:pt x="115086" y="586060"/>
                    <a:pt x="73176" y="544150"/>
                    <a:pt x="47776" y="500970"/>
                  </a:cubicBezTo>
                  <a:cubicBezTo>
                    <a:pt x="21106" y="456520"/>
                    <a:pt x="3326" y="400640"/>
                    <a:pt x="786" y="349840"/>
                  </a:cubicBezTo>
                  <a:cubicBezTo>
                    <a:pt x="-3024" y="299040"/>
                    <a:pt x="7136" y="240620"/>
                    <a:pt x="28726" y="194900"/>
                  </a:cubicBezTo>
                  <a:cubicBezTo>
                    <a:pt x="49046" y="147910"/>
                    <a:pt x="85876" y="102190"/>
                    <a:pt x="126516" y="70440"/>
                  </a:cubicBezTo>
                  <a:cubicBezTo>
                    <a:pt x="165886" y="38690"/>
                    <a:pt x="220496" y="14560"/>
                    <a:pt x="270026" y="5670"/>
                  </a:cubicBezTo>
                  <a:cubicBezTo>
                    <a:pt x="320826" y="-4490"/>
                    <a:pt x="379246" y="-680"/>
                    <a:pt x="427506" y="14560"/>
                  </a:cubicBezTo>
                  <a:cubicBezTo>
                    <a:pt x="477036" y="29800"/>
                    <a:pt x="563396" y="97110"/>
                    <a:pt x="563396" y="97110"/>
                  </a:cubicBezTo>
                </a:path>
              </a:pathLst>
            </a:custGeom>
            <a:solidFill>
              <a:srgbClr val="FFFFFF"/>
            </a:solidFill>
            <a:ln cap="sq">
              <a:noFill/>
              <a:prstDash val="solid"/>
              <a:miter/>
            </a:ln>
          </p:spPr>
        </p:sp>
      </p:grpSp>
      <p:grpSp>
        <p:nvGrpSpPr>
          <p:cNvPr name="Group 26" id="26"/>
          <p:cNvGrpSpPr/>
          <p:nvPr/>
        </p:nvGrpSpPr>
        <p:grpSpPr>
          <a:xfrm rot="0">
            <a:off x="2648902" y="4820602"/>
            <a:ext cx="567690" cy="567690"/>
            <a:chOff x="0" y="0"/>
            <a:chExt cx="756920" cy="756920"/>
          </a:xfrm>
        </p:grpSpPr>
        <p:sp>
          <p:nvSpPr>
            <p:cNvPr name="Freeform 27" id="27"/>
            <p:cNvSpPr/>
            <p:nvPr/>
          </p:nvSpPr>
          <p:spPr>
            <a:xfrm flipH="false" flipV="false" rot="0">
              <a:off x="50073" y="45687"/>
              <a:ext cx="644665" cy="659891"/>
            </a:xfrm>
            <a:custGeom>
              <a:avLst/>
              <a:gdLst/>
              <a:ahLst/>
              <a:cxnLst/>
              <a:rect r="r" b="b" t="t" l="l"/>
              <a:pathLst>
                <a:path h="659891" w="644665">
                  <a:moveTo>
                    <a:pt x="644617" y="231173"/>
                  </a:moveTo>
                  <a:cubicBezTo>
                    <a:pt x="645887" y="439453"/>
                    <a:pt x="621757" y="492793"/>
                    <a:pt x="590007" y="533433"/>
                  </a:cubicBezTo>
                  <a:cubicBezTo>
                    <a:pt x="558257" y="574073"/>
                    <a:pt x="512537" y="609633"/>
                    <a:pt x="465547" y="631223"/>
                  </a:cubicBezTo>
                  <a:cubicBezTo>
                    <a:pt x="418557" y="651543"/>
                    <a:pt x="361407" y="662973"/>
                    <a:pt x="309337" y="659163"/>
                  </a:cubicBezTo>
                  <a:cubicBezTo>
                    <a:pt x="258537" y="656623"/>
                    <a:pt x="202657" y="638843"/>
                    <a:pt x="159477" y="612173"/>
                  </a:cubicBezTo>
                  <a:cubicBezTo>
                    <a:pt x="115027" y="585503"/>
                    <a:pt x="73117" y="544863"/>
                    <a:pt x="47717" y="500413"/>
                  </a:cubicBezTo>
                  <a:cubicBezTo>
                    <a:pt x="21047" y="457233"/>
                    <a:pt x="3267" y="400083"/>
                    <a:pt x="727" y="349283"/>
                  </a:cubicBezTo>
                  <a:cubicBezTo>
                    <a:pt x="-3083" y="298483"/>
                    <a:pt x="8347" y="241333"/>
                    <a:pt x="28667" y="194343"/>
                  </a:cubicBezTo>
                  <a:cubicBezTo>
                    <a:pt x="50257" y="147353"/>
                    <a:pt x="85817" y="101633"/>
                    <a:pt x="126457" y="69883"/>
                  </a:cubicBezTo>
                  <a:cubicBezTo>
                    <a:pt x="167097" y="38133"/>
                    <a:pt x="220437" y="14003"/>
                    <a:pt x="269967" y="5113"/>
                  </a:cubicBezTo>
                  <a:cubicBezTo>
                    <a:pt x="320767" y="-3777"/>
                    <a:pt x="379187" y="-1237"/>
                    <a:pt x="428717" y="14003"/>
                  </a:cubicBezTo>
                  <a:cubicBezTo>
                    <a:pt x="476977" y="29243"/>
                    <a:pt x="563337" y="96553"/>
                    <a:pt x="563337" y="96553"/>
                  </a:cubicBezTo>
                </a:path>
              </a:pathLst>
            </a:custGeom>
            <a:solidFill>
              <a:srgbClr val="FFFFFF"/>
            </a:solidFill>
            <a:ln cap="sq">
              <a:noFill/>
              <a:prstDash val="solid"/>
              <a:miter/>
            </a:ln>
          </p:spPr>
        </p:sp>
      </p:grpSp>
      <p:sp>
        <p:nvSpPr>
          <p:cNvPr name="Freeform 28" id="28"/>
          <p:cNvSpPr/>
          <p:nvPr/>
        </p:nvSpPr>
        <p:spPr>
          <a:xfrm flipH="false" flipV="false" rot="0">
            <a:off x="2847345" y="4889182"/>
            <a:ext cx="2536815" cy="419624"/>
          </a:xfrm>
          <a:custGeom>
            <a:avLst/>
            <a:gdLst/>
            <a:ahLst/>
            <a:cxnLst/>
            <a:rect r="r" b="b" t="t" l="l"/>
            <a:pathLst>
              <a:path h="419624" w="2536815">
                <a:moveTo>
                  <a:pt x="0" y="0"/>
                </a:moveTo>
                <a:lnTo>
                  <a:pt x="2536815" y="0"/>
                </a:lnTo>
                <a:lnTo>
                  <a:pt x="2536815" y="419624"/>
                </a:lnTo>
                <a:lnTo>
                  <a:pt x="0" y="419624"/>
                </a:lnTo>
                <a:lnTo>
                  <a:pt x="0" y="0"/>
                </a:lnTo>
                <a:close/>
              </a:path>
            </a:pathLst>
          </a:custGeom>
          <a:blipFill>
            <a:blip r:embed="rId4"/>
            <a:stretch>
              <a:fillRect l="0" t="0" r="0" b="0"/>
            </a:stretch>
          </a:blipFill>
        </p:spPr>
      </p:sp>
      <p:sp>
        <p:nvSpPr>
          <p:cNvPr name="TextBox 29" id="29"/>
          <p:cNvSpPr txBox="true"/>
          <p:nvPr/>
        </p:nvSpPr>
        <p:spPr>
          <a:xfrm rot="0">
            <a:off x="1028700" y="382145"/>
            <a:ext cx="8850302" cy="570865"/>
          </a:xfrm>
          <a:prstGeom prst="rect">
            <a:avLst/>
          </a:prstGeom>
        </p:spPr>
        <p:txBody>
          <a:bodyPr anchor="t" rtlCol="false" tIns="0" lIns="0" bIns="0" rIns="0">
            <a:spAutoFit/>
          </a:bodyPr>
          <a:lstStyle/>
          <a:p>
            <a:pPr algn="l">
              <a:lnSpc>
                <a:spcPts val="4759"/>
              </a:lnSpc>
              <a:spcBef>
                <a:spcPct val="0"/>
              </a:spcBef>
            </a:pPr>
            <a:r>
              <a:rPr lang="en-US" b="true" sz="3399" i="true">
                <a:solidFill>
                  <a:srgbClr val="061647"/>
                </a:solidFill>
                <a:latin typeface="Proxima Nova Heavy Italics"/>
                <a:ea typeface="Proxima Nova Heavy Italics"/>
                <a:cs typeface="Proxima Nova Heavy Italics"/>
                <a:sym typeface="Proxima Nova Heavy Italics"/>
              </a:rPr>
              <a:t>THIẾT KẾ GIAO DIỆN ỨNG DỤNG (UI/UX)</a:t>
            </a:r>
          </a:p>
        </p:txBody>
      </p:sp>
      <p:sp>
        <p:nvSpPr>
          <p:cNvPr name="TextBox 30" id="30"/>
          <p:cNvSpPr txBox="true"/>
          <p:nvPr/>
        </p:nvSpPr>
        <p:spPr>
          <a:xfrm rot="0">
            <a:off x="8883227" y="2244888"/>
            <a:ext cx="8234073" cy="6920230"/>
          </a:xfrm>
          <a:prstGeom prst="rect">
            <a:avLst/>
          </a:prstGeom>
        </p:spPr>
        <p:txBody>
          <a:bodyPr anchor="t" rtlCol="false" tIns="0" lIns="0" bIns="0" rIns="0">
            <a:spAutoFit/>
          </a:bodyPr>
          <a:lstStyle/>
          <a:p>
            <a:pPr algn="l">
              <a:lnSpc>
                <a:spcPts val="3920"/>
              </a:lnSpc>
            </a:pP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Đăng nhập truyền thống:</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Nhập Số điện thoại / Email và Mật khẩu. </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Có nút ẩn/hiện mật khẩu bảo mật. </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Xác thực nhanh bằng Sinh trắc học:</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Nút đăng nhập bằng vân tay.</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Khi người dùng chọn, hệ thống Android hiển thị hộp thoại xác thực sinh trắc học.</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Xử lý trạng thái &amp; Phản hồi (Feedback):</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Hiển thị thông báo (SnackBar/Toast) phản hồi tức thì khi người dùng hủy thao tác hoặc xác thực thất bại. </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Tự động điều hướng và lưu trữ phiên đăng nhập an toàn khi xác thực thành công.</a:t>
            </a:r>
          </a:p>
        </p:txBody>
      </p:sp>
      <p:sp>
        <p:nvSpPr>
          <p:cNvPr name="TextBox 31" id="31"/>
          <p:cNvSpPr txBox="true"/>
          <p:nvPr/>
        </p:nvSpPr>
        <p:spPr>
          <a:xfrm rot="0">
            <a:off x="9169547" y="1970251"/>
            <a:ext cx="7661434"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F5FCFF"/>
                </a:solidFill>
                <a:latin typeface="Proxima Nova Bold"/>
                <a:ea typeface="Proxima Nova Bold"/>
                <a:cs typeface="Proxima Nova Bold"/>
                <a:sym typeface="Proxima Nova Bold"/>
              </a:rPr>
              <a:t>GIAO DIỆN ĐĂNG NHẬP &amp; XÁC THỰC</a:t>
            </a:r>
          </a:p>
        </p:txBody>
      </p:sp>
    </p:spTree>
  </p:cSld>
  <p:clrMapOvr>
    <a:masterClrMapping/>
  </p:clrMapOvr>
  <p:transition spd="fast">
    <p:cover dir="rd"/>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DE0E6">
                <a:alpha val="100000"/>
              </a:srgbClr>
            </a:gs>
            <a:gs pos="100000">
              <a:srgbClr val="004AAD">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89806" y="-202673"/>
            <a:ext cx="18719200" cy="1431252"/>
            <a:chOff x="0" y="0"/>
            <a:chExt cx="4930160" cy="376955"/>
          </a:xfrm>
        </p:grpSpPr>
        <p:sp>
          <p:nvSpPr>
            <p:cNvPr name="Freeform 3" id="3"/>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4" id="4"/>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89806" y="439295"/>
            <a:ext cx="347972" cy="513715"/>
            <a:chOff x="0" y="0"/>
            <a:chExt cx="91647" cy="135299"/>
          </a:xfrm>
        </p:grpSpPr>
        <p:sp>
          <p:nvSpPr>
            <p:cNvPr name="Freeform 6" id="6"/>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7" id="7"/>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65152" y="439295"/>
            <a:ext cx="493718" cy="513715"/>
            <a:chOff x="0" y="0"/>
            <a:chExt cx="130033" cy="135299"/>
          </a:xfrm>
        </p:grpSpPr>
        <p:sp>
          <p:nvSpPr>
            <p:cNvPr name="Freeform 9" id="9"/>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0" id="10"/>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2549382" y="3176924"/>
            <a:ext cx="12472983" cy="7381571"/>
            <a:chOff x="0" y="0"/>
            <a:chExt cx="16630644" cy="9842094"/>
          </a:xfrm>
        </p:grpSpPr>
        <p:sp>
          <p:nvSpPr>
            <p:cNvPr name="TextBox 12" id="12"/>
            <p:cNvSpPr txBox="true"/>
            <p:nvPr/>
          </p:nvSpPr>
          <p:spPr>
            <a:xfrm rot="0">
              <a:off x="0" y="57150"/>
              <a:ext cx="11318882" cy="705747"/>
            </a:xfrm>
            <a:prstGeom prst="rect">
              <a:avLst/>
            </a:prstGeom>
          </p:spPr>
          <p:txBody>
            <a:bodyPr anchor="t" rtlCol="false" tIns="0" lIns="0" bIns="0" rIns="0">
              <a:spAutoFit/>
            </a:bodyPr>
            <a:lstStyle/>
            <a:p>
              <a:pPr algn="l" marL="816771" indent="-408385" lvl="1">
                <a:lnSpc>
                  <a:spcPts val="3934"/>
                </a:lnSpc>
                <a:buFont typeface="Arial"/>
                <a:buChar char="•"/>
              </a:pPr>
              <a:r>
                <a:rPr lang="en-US" b="true" sz="3783">
                  <a:solidFill>
                    <a:srgbClr val="061647"/>
                  </a:solidFill>
                  <a:latin typeface="Proxima Nova Heavy"/>
                  <a:ea typeface="Proxima Nova Heavy"/>
                  <a:cs typeface="Proxima Nova Heavy"/>
                  <a:sym typeface="Proxima Nova Heavy"/>
                </a:rPr>
                <a:t>ƯU ĐIỂM</a:t>
              </a:r>
            </a:p>
          </p:txBody>
        </p:sp>
        <p:sp>
          <p:nvSpPr>
            <p:cNvPr name="TextBox 13" id="13"/>
            <p:cNvSpPr txBox="true"/>
            <p:nvPr/>
          </p:nvSpPr>
          <p:spPr>
            <a:xfrm rot="0">
              <a:off x="0" y="3655695"/>
              <a:ext cx="14494358" cy="705747"/>
            </a:xfrm>
            <a:prstGeom prst="rect">
              <a:avLst/>
            </a:prstGeom>
          </p:spPr>
          <p:txBody>
            <a:bodyPr anchor="t" rtlCol="false" tIns="0" lIns="0" bIns="0" rIns="0">
              <a:spAutoFit/>
            </a:bodyPr>
            <a:lstStyle/>
            <a:p>
              <a:pPr algn="l" marL="816771" indent="-408385" lvl="1">
                <a:lnSpc>
                  <a:spcPts val="3934"/>
                </a:lnSpc>
                <a:buFont typeface="Arial"/>
                <a:buChar char="•"/>
              </a:pPr>
              <a:r>
                <a:rPr lang="en-US" b="true" sz="3783">
                  <a:solidFill>
                    <a:srgbClr val="061647"/>
                  </a:solidFill>
                  <a:latin typeface="Proxima Nova Heavy"/>
                  <a:ea typeface="Proxima Nova Heavy"/>
                  <a:cs typeface="Proxima Nova Heavy"/>
                  <a:sym typeface="Proxima Nova Heavy"/>
                </a:rPr>
                <a:t>HẠN CHẾ</a:t>
              </a:r>
            </a:p>
          </p:txBody>
        </p:sp>
        <p:sp>
          <p:nvSpPr>
            <p:cNvPr name="TextBox 14" id="14"/>
            <p:cNvSpPr txBox="true"/>
            <p:nvPr/>
          </p:nvSpPr>
          <p:spPr>
            <a:xfrm rot="0">
              <a:off x="0" y="8580574"/>
              <a:ext cx="14494358" cy="706320"/>
            </a:xfrm>
            <a:prstGeom prst="rect">
              <a:avLst/>
            </a:prstGeom>
          </p:spPr>
          <p:txBody>
            <a:bodyPr anchor="t" rtlCol="false" tIns="0" lIns="0" bIns="0" rIns="0">
              <a:spAutoFit/>
            </a:bodyPr>
            <a:lstStyle/>
            <a:p>
              <a:pPr algn="l">
                <a:lnSpc>
                  <a:spcPts val="3934"/>
                </a:lnSpc>
              </a:pPr>
            </a:p>
          </p:txBody>
        </p:sp>
        <p:sp>
          <p:nvSpPr>
            <p:cNvPr name="TextBox 15" id="15"/>
            <p:cNvSpPr txBox="true"/>
            <p:nvPr/>
          </p:nvSpPr>
          <p:spPr>
            <a:xfrm rot="0">
              <a:off x="1723496" y="812258"/>
              <a:ext cx="14907148" cy="1943523"/>
            </a:xfrm>
            <a:prstGeom prst="rect">
              <a:avLst/>
            </a:prstGeom>
          </p:spPr>
          <p:txBody>
            <a:bodyPr anchor="t" rtlCol="false" tIns="0" lIns="0" bIns="0" rIns="0">
              <a:spAutoFit/>
            </a:bodyPr>
            <a:lstStyle/>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Xác thực nhanh chóng, không cần nhập mật khẩu thủ công.</a:t>
              </a:r>
            </a:p>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Tận dụng cơ chế bảo mật của thiết bị.</a:t>
              </a:r>
            </a:p>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Trải nghiệm người dùng mượt mà, tiện lợi cho người dùng .</a:t>
              </a:r>
            </a:p>
          </p:txBody>
        </p:sp>
        <p:sp>
          <p:nvSpPr>
            <p:cNvPr name="TextBox 16" id="16"/>
            <p:cNvSpPr txBox="true"/>
            <p:nvPr/>
          </p:nvSpPr>
          <p:spPr>
            <a:xfrm rot="0">
              <a:off x="1723496" y="4410803"/>
              <a:ext cx="14856039" cy="3264323"/>
            </a:xfrm>
            <a:prstGeom prst="rect">
              <a:avLst/>
            </a:prstGeom>
          </p:spPr>
          <p:txBody>
            <a:bodyPr anchor="t" rtlCol="false" tIns="0" lIns="0" bIns="0" rIns="0">
              <a:spAutoFit/>
            </a:bodyPr>
            <a:lstStyle/>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Phụ thuộc thiết bị có hỗ trợ biometric.</a:t>
              </a:r>
            </a:p>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Không thể xác thực nếu cảm biến gặp lỗi.</a:t>
              </a:r>
            </a:p>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Vân tay có</a:t>
              </a:r>
              <a:r>
                <a:rPr lang="en-US" b="true" sz="2799">
                  <a:solidFill>
                    <a:srgbClr val="FFFFFF"/>
                  </a:solidFill>
                  <a:latin typeface="Proxima Nova Bold"/>
                  <a:ea typeface="Proxima Nova Bold"/>
                  <a:cs typeface="Proxima Nova Bold"/>
                  <a:sym typeface="Proxima Nova Bold"/>
                </a:rPr>
                <a:t> thể khó nhận diện khi tay ướt/bẩn.</a:t>
              </a:r>
            </a:p>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Cần có phương thức đăng nhập thay thế khi biometric không khả dụng.</a:t>
              </a:r>
            </a:p>
          </p:txBody>
        </p:sp>
        <p:sp>
          <p:nvSpPr>
            <p:cNvPr name="TextBox 17" id="17"/>
            <p:cNvSpPr txBox="true"/>
            <p:nvPr/>
          </p:nvSpPr>
          <p:spPr>
            <a:xfrm rot="0">
              <a:off x="1723496" y="9345781"/>
              <a:ext cx="14907148" cy="496313"/>
            </a:xfrm>
            <a:prstGeom prst="rect">
              <a:avLst/>
            </a:prstGeom>
          </p:spPr>
          <p:txBody>
            <a:bodyPr anchor="t" rtlCol="false" tIns="0" lIns="0" bIns="0" rIns="0">
              <a:spAutoFit/>
            </a:bodyPr>
            <a:lstStyle/>
            <a:p>
              <a:pPr algn="l">
                <a:lnSpc>
                  <a:spcPts val="3137"/>
                </a:lnSpc>
              </a:pPr>
            </a:p>
          </p:txBody>
        </p:sp>
      </p:grpSp>
      <p:sp>
        <p:nvSpPr>
          <p:cNvPr name="Freeform 18" id="18"/>
          <p:cNvSpPr/>
          <p:nvPr/>
        </p:nvSpPr>
        <p:spPr>
          <a:xfrm flipH="false" flipV="false" rot="0">
            <a:off x="575196" y="6328912"/>
            <a:ext cx="3670565" cy="3266803"/>
          </a:xfrm>
          <a:custGeom>
            <a:avLst/>
            <a:gdLst/>
            <a:ahLst/>
            <a:cxnLst/>
            <a:rect r="r" b="b" t="t" l="l"/>
            <a:pathLst>
              <a:path h="3266803" w="3670565">
                <a:moveTo>
                  <a:pt x="0" y="0"/>
                </a:moveTo>
                <a:lnTo>
                  <a:pt x="3670566" y="0"/>
                </a:lnTo>
                <a:lnTo>
                  <a:pt x="3670566" y="3266803"/>
                </a:lnTo>
                <a:lnTo>
                  <a:pt x="0" y="32668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547638">
            <a:off x="14031803" y="2463277"/>
            <a:ext cx="3775395" cy="3794367"/>
          </a:xfrm>
          <a:custGeom>
            <a:avLst/>
            <a:gdLst/>
            <a:ahLst/>
            <a:cxnLst/>
            <a:rect r="r" b="b" t="t" l="l"/>
            <a:pathLst>
              <a:path h="3794367" w="3775395">
                <a:moveTo>
                  <a:pt x="0" y="0"/>
                </a:moveTo>
                <a:lnTo>
                  <a:pt x="3775396" y="0"/>
                </a:lnTo>
                <a:lnTo>
                  <a:pt x="3775396" y="3794367"/>
                </a:lnTo>
                <a:lnTo>
                  <a:pt x="0" y="37943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1028700" y="382145"/>
            <a:ext cx="11087075" cy="570865"/>
          </a:xfrm>
          <a:prstGeom prst="rect">
            <a:avLst/>
          </a:prstGeom>
        </p:spPr>
        <p:txBody>
          <a:bodyPr anchor="t" rtlCol="false" tIns="0" lIns="0" bIns="0" rIns="0">
            <a:spAutoFit/>
          </a:bodyPr>
          <a:lstStyle/>
          <a:p>
            <a:pPr algn="l">
              <a:lnSpc>
                <a:spcPts val="4759"/>
              </a:lnSpc>
              <a:spcBef>
                <a:spcPct val="0"/>
              </a:spcBef>
            </a:pPr>
            <a:r>
              <a:rPr lang="en-US" b="true" sz="3399" i="true">
                <a:solidFill>
                  <a:srgbClr val="061647"/>
                </a:solidFill>
                <a:latin typeface="Proxima Nova Heavy Italics"/>
                <a:ea typeface="Proxima Nova Heavy Italics"/>
                <a:cs typeface="Proxima Nova Heavy Italics"/>
                <a:sym typeface="Proxima Nova Heavy Italics"/>
              </a:rPr>
              <a:t>ĐÁNH GIÁ ƯU ĐIỂM &amp; HẠN CHẾ</a:t>
            </a:r>
          </a:p>
        </p:txBody>
      </p:sp>
      <p:sp>
        <p:nvSpPr>
          <p:cNvPr name="Freeform 21" id="21"/>
          <p:cNvSpPr/>
          <p:nvPr/>
        </p:nvSpPr>
        <p:spPr>
          <a:xfrm flipH="false" flipV="false" rot="0">
            <a:off x="14456175" y="81863"/>
            <a:ext cx="3831825" cy="1228579"/>
          </a:xfrm>
          <a:custGeom>
            <a:avLst/>
            <a:gdLst/>
            <a:ahLst/>
            <a:cxnLst/>
            <a:rect r="r" b="b" t="t" l="l"/>
            <a:pathLst>
              <a:path h="1228579" w="3831825">
                <a:moveTo>
                  <a:pt x="0" y="0"/>
                </a:moveTo>
                <a:lnTo>
                  <a:pt x="3831825" y="0"/>
                </a:lnTo>
                <a:lnTo>
                  <a:pt x="3831825" y="1228579"/>
                </a:lnTo>
                <a:lnTo>
                  <a:pt x="0" y="1228579"/>
                </a:lnTo>
                <a:lnTo>
                  <a:pt x="0" y="0"/>
                </a:lnTo>
                <a:close/>
              </a:path>
            </a:pathLst>
          </a:custGeom>
          <a:blipFill>
            <a:blip r:embed="rId6"/>
            <a:stretch>
              <a:fillRect l="0" t="0" r="0" b="0"/>
            </a:stretch>
          </a:blipFill>
        </p:spPr>
      </p:sp>
    </p:spTree>
  </p:cSld>
  <p:clrMapOvr>
    <a:masterClrMapping/>
  </p:clrMapOvr>
  <p:transition spd="fast">
    <p:cover dir="d"/>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2772">
                <a:alpha val="100000"/>
              </a:srgbClr>
            </a:gs>
            <a:gs pos="50000">
              <a:srgbClr val="356BD1">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58166" y="1791328"/>
            <a:ext cx="10068243" cy="2600325"/>
          </a:xfrm>
          <a:prstGeom prst="rect">
            <a:avLst/>
          </a:prstGeom>
        </p:spPr>
        <p:txBody>
          <a:bodyPr anchor="t" rtlCol="false" tIns="0" lIns="0" bIns="0" rIns="0">
            <a:spAutoFit/>
          </a:bodyPr>
          <a:lstStyle/>
          <a:p>
            <a:pPr algn="ctr">
              <a:lnSpc>
                <a:spcPts val="9600"/>
              </a:lnSpc>
            </a:pPr>
            <a:r>
              <a:rPr lang="en-US" b="true" sz="12000">
                <a:solidFill>
                  <a:srgbClr val="3065CB"/>
                </a:solidFill>
                <a:latin typeface="Proxima Nova Heavy"/>
                <a:ea typeface="Proxima Nova Heavy"/>
                <a:cs typeface="Proxima Nova Heavy"/>
                <a:sym typeface="Proxima Nova Heavy"/>
              </a:rPr>
              <a:t>OPTIMAL SOLUTIONS</a:t>
            </a:r>
          </a:p>
        </p:txBody>
      </p:sp>
      <p:grpSp>
        <p:nvGrpSpPr>
          <p:cNvPr name="Group 3" id="3"/>
          <p:cNvGrpSpPr/>
          <p:nvPr/>
        </p:nvGrpSpPr>
        <p:grpSpPr>
          <a:xfrm rot="0">
            <a:off x="-189806" y="-202673"/>
            <a:ext cx="18719200" cy="1431252"/>
            <a:chOff x="0" y="0"/>
            <a:chExt cx="4930160" cy="376955"/>
          </a:xfrm>
        </p:grpSpPr>
        <p:sp>
          <p:nvSpPr>
            <p:cNvPr name="Freeform 4" id="4"/>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5" id="5"/>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89806" y="439295"/>
            <a:ext cx="347972" cy="513715"/>
            <a:chOff x="0" y="0"/>
            <a:chExt cx="91647" cy="135299"/>
          </a:xfrm>
        </p:grpSpPr>
        <p:sp>
          <p:nvSpPr>
            <p:cNvPr name="Freeform 7" id="7"/>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8" id="8"/>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65152" y="439295"/>
            <a:ext cx="493718" cy="513715"/>
            <a:chOff x="0" y="0"/>
            <a:chExt cx="130033" cy="135299"/>
          </a:xfrm>
        </p:grpSpPr>
        <p:sp>
          <p:nvSpPr>
            <p:cNvPr name="Freeform 10" id="10"/>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1" id="11"/>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0" y="1028700"/>
            <a:ext cx="9954926" cy="9665390"/>
          </a:xfrm>
          <a:custGeom>
            <a:avLst/>
            <a:gdLst/>
            <a:ahLst/>
            <a:cxnLst/>
            <a:rect r="r" b="b" t="t" l="l"/>
            <a:pathLst>
              <a:path h="9665390" w="9954926">
                <a:moveTo>
                  <a:pt x="0" y="0"/>
                </a:moveTo>
                <a:lnTo>
                  <a:pt x="9954926" y="0"/>
                </a:lnTo>
                <a:lnTo>
                  <a:pt x="9954926" y="9665390"/>
                </a:lnTo>
                <a:lnTo>
                  <a:pt x="0" y="9665390"/>
                </a:lnTo>
                <a:lnTo>
                  <a:pt x="0" y="0"/>
                </a:lnTo>
                <a:close/>
              </a:path>
            </a:pathLst>
          </a:custGeom>
          <a:blipFill>
            <a:blip r:embed="rId2"/>
            <a:stretch>
              <a:fillRect l="0" t="-8279" r="-66896" b="-6422"/>
            </a:stretch>
          </a:blipFill>
        </p:spPr>
      </p:sp>
      <p:grpSp>
        <p:nvGrpSpPr>
          <p:cNvPr name="Group 13" id="13"/>
          <p:cNvGrpSpPr/>
          <p:nvPr/>
        </p:nvGrpSpPr>
        <p:grpSpPr>
          <a:xfrm rot="-7662578">
            <a:off x="8027733" y="2039681"/>
            <a:ext cx="2051435" cy="4079850"/>
            <a:chOff x="0" y="0"/>
            <a:chExt cx="540296" cy="1074528"/>
          </a:xfrm>
        </p:grpSpPr>
        <p:sp>
          <p:nvSpPr>
            <p:cNvPr name="Freeform 14" id="14"/>
            <p:cNvSpPr/>
            <p:nvPr/>
          </p:nvSpPr>
          <p:spPr>
            <a:xfrm flipH="false" flipV="false" rot="0">
              <a:off x="0" y="0"/>
              <a:ext cx="540296" cy="1074528"/>
            </a:xfrm>
            <a:custGeom>
              <a:avLst/>
              <a:gdLst/>
              <a:ahLst/>
              <a:cxnLst/>
              <a:rect r="r" b="b" t="t" l="l"/>
              <a:pathLst>
                <a:path h="1074528" w="540296">
                  <a:moveTo>
                    <a:pt x="270148" y="0"/>
                  </a:moveTo>
                  <a:lnTo>
                    <a:pt x="540296" y="1074528"/>
                  </a:lnTo>
                  <a:lnTo>
                    <a:pt x="0" y="1074528"/>
                  </a:lnTo>
                  <a:lnTo>
                    <a:pt x="270148" y="0"/>
                  </a:lnTo>
                  <a:close/>
                </a:path>
              </a:pathLst>
            </a:custGeom>
            <a:gradFill rotWithShape="true">
              <a:gsLst>
                <a:gs pos="0">
                  <a:srgbClr val="FFFFFF">
                    <a:alpha val="100000"/>
                  </a:srgbClr>
                </a:gs>
                <a:gs pos="100000">
                  <a:srgbClr val="FFFFFF">
                    <a:alpha val="0"/>
                  </a:srgbClr>
                </a:gs>
              </a:gsLst>
              <a:lin ang="5400000"/>
            </a:gradFill>
          </p:spPr>
        </p:sp>
        <p:sp>
          <p:nvSpPr>
            <p:cNvPr name="TextBox 15" id="15"/>
            <p:cNvSpPr txBox="true"/>
            <p:nvPr/>
          </p:nvSpPr>
          <p:spPr>
            <a:xfrm>
              <a:off x="84421" y="460788"/>
              <a:ext cx="371453" cy="536988"/>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3121120">
            <a:off x="8025639" y="4852396"/>
            <a:ext cx="2051435" cy="4079850"/>
            <a:chOff x="0" y="0"/>
            <a:chExt cx="540296" cy="1074528"/>
          </a:xfrm>
        </p:grpSpPr>
        <p:sp>
          <p:nvSpPr>
            <p:cNvPr name="Freeform 17" id="17"/>
            <p:cNvSpPr/>
            <p:nvPr/>
          </p:nvSpPr>
          <p:spPr>
            <a:xfrm flipH="false" flipV="false" rot="0">
              <a:off x="0" y="0"/>
              <a:ext cx="540296" cy="1074528"/>
            </a:xfrm>
            <a:custGeom>
              <a:avLst/>
              <a:gdLst/>
              <a:ahLst/>
              <a:cxnLst/>
              <a:rect r="r" b="b" t="t" l="l"/>
              <a:pathLst>
                <a:path h="1074528" w="540296">
                  <a:moveTo>
                    <a:pt x="270148" y="0"/>
                  </a:moveTo>
                  <a:lnTo>
                    <a:pt x="540296" y="1074528"/>
                  </a:lnTo>
                  <a:lnTo>
                    <a:pt x="0" y="1074528"/>
                  </a:lnTo>
                  <a:lnTo>
                    <a:pt x="270148" y="0"/>
                  </a:lnTo>
                  <a:close/>
                </a:path>
              </a:pathLst>
            </a:custGeom>
            <a:gradFill rotWithShape="true">
              <a:gsLst>
                <a:gs pos="0">
                  <a:srgbClr val="FFFFFF">
                    <a:alpha val="100000"/>
                  </a:srgbClr>
                </a:gs>
                <a:gs pos="100000">
                  <a:srgbClr val="FFFFFF">
                    <a:alpha val="0"/>
                  </a:srgbClr>
                </a:gs>
              </a:gsLst>
              <a:lin ang="5400000"/>
            </a:gradFill>
          </p:spPr>
        </p:sp>
        <p:sp>
          <p:nvSpPr>
            <p:cNvPr name="TextBox 18" id="18"/>
            <p:cNvSpPr txBox="true"/>
            <p:nvPr/>
          </p:nvSpPr>
          <p:spPr>
            <a:xfrm>
              <a:off x="84421" y="460788"/>
              <a:ext cx="371453" cy="536988"/>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3577904">
            <a:off x="7389742" y="4724664"/>
            <a:ext cx="2354885" cy="2858053"/>
            <a:chOff x="0" y="0"/>
            <a:chExt cx="620217" cy="752738"/>
          </a:xfrm>
        </p:grpSpPr>
        <p:sp>
          <p:nvSpPr>
            <p:cNvPr name="Freeform 20" id="20"/>
            <p:cNvSpPr/>
            <p:nvPr/>
          </p:nvSpPr>
          <p:spPr>
            <a:xfrm flipH="false" flipV="false" rot="0">
              <a:off x="0" y="0"/>
              <a:ext cx="620217" cy="752738"/>
            </a:xfrm>
            <a:custGeom>
              <a:avLst/>
              <a:gdLst/>
              <a:ahLst/>
              <a:cxnLst/>
              <a:rect r="r" b="b" t="t" l="l"/>
              <a:pathLst>
                <a:path h="752738" w="620217">
                  <a:moveTo>
                    <a:pt x="310108" y="0"/>
                  </a:moveTo>
                  <a:lnTo>
                    <a:pt x="620217" y="752738"/>
                  </a:lnTo>
                  <a:lnTo>
                    <a:pt x="0" y="752738"/>
                  </a:lnTo>
                  <a:lnTo>
                    <a:pt x="310108" y="0"/>
                  </a:lnTo>
                  <a:close/>
                </a:path>
              </a:pathLst>
            </a:custGeom>
            <a:gradFill rotWithShape="true">
              <a:gsLst>
                <a:gs pos="0">
                  <a:srgbClr val="FFFFFF">
                    <a:alpha val="100000"/>
                  </a:srgbClr>
                </a:gs>
                <a:gs pos="100000">
                  <a:srgbClr val="FFFFFF">
                    <a:alpha val="0"/>
                  </a:srgbClr>
                </a:gs>
              </a:gsLst>
              <a:lin ang="5400000"/>
            </a:gradFill>
          </p:spPr>
        </p:sp>
        <p:sp>
          <p:nvSpPr>
            <p:cNvPr name="TextBox 21" id="21"/>
            <p:cNvSpPr txBox="true"/>
            <p:nvPr/>
          </p:nvSpPr>
          <p:spPr>
            <a:xfrm>
              <a:off x="96909" y="311386"/>
              <a:ext cx="426399" cy="38758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22" id="22"/>
          <p:cNvSpPr/>
          <p:nvPr/>
        </p:nvSpPr>
        <p:spPr>
          <a:xfrm flipH="false" flipV="false" rot="1094816">
            <a:off x="7914565" y="2934720"/>
            <a:ext cx="461363" cy="205306"/>
          </a:xfrm>
          <a:custGeom>
            <a:avLst/>
            <a:gdLst/>
            <a:ahLst/>
            <a:cxnLst/>
            <a:rect r="r" b="b" t="t" l="l"/>
            <a:pathLst>
              <a:path h="205306" w="461363">
                <a:moveTo>
                  <a:pt x="0" y="0"/>
                </a:moveTo>
                <a:lnTo>
                  <a:pt x="461362" y="0"/>
                </a:lnTo>
                <a:lnTo>
                  <a:pt x="461362" y="205307"/>
                </a:lnTo>
                <a:lnTo>
                  <a:pt x="0" y="2053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1073274">
            <a:off x="7464756" y="2725858"/>
            <a:ext cx="391158" cy="283589"/>
          </a:xfrm>
          <a:custGeom>
            <a:avLst/>
            <a:gdLst/>
            <a:ahLst/>
            <a:cxnLst/>
            <a:rect r="r" b="b" t="t" l="l"/>
            <a:pathLst>
              <a:path h="283589" w="391158">
                <a:moveTo>
                  <a:pt x="0" y="0"/>
                </a:moveTo>
                <a:lnTo>
                  <a:pt x="391157" y="0"/>
                </a:lnTo>
                <a:lnTo>
                  <a:pt x="391157" y="283589"/>
                </a:lnTo>
                <a:lnTo>
                  <a:pt x="0" y="2835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1029082">
            <a:off x="7062699" y="2507352"/>
            <a:ext cx="330576" cy="330576"/>
          </a:xfrm>
          <a:custGeom>
            <a:avLst/>
            <a:gdLst/>
            <a:ahLst/>
            <a:cxnLst/>
            <a:rect r="r" b="b" t="t" l="l"/>
            <a:pathLst>
              <a:path h="330576" w="330576">
                <a:moveTo>
                  <a:pt x="0" y="0"/>
                </a:moveTo>
                <a:lnTo>
                  <a:pt x="330576" y="0"/>
                </a:lnTo>
                <a:lnTo>
                  <a:pt x="330576" y="330575"/>
                </a:lnTo>
                <a:lnTo>
                  <a:pt x="0" y="3305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5" id="25"/>
          <p:cNvSpPr/>
          <p:nvPr/>
        </p:nvSpPr>
        <p:spPr>
          <a:xfrm flipH="false" flipV="false" rot="0">
            <a:off x="13819228" y="0"/>
            <a:ext cx="4431336" cy="1420797"/>
          </a:xfrm>
          <a:custGeom>
            <a:avLst/>
            <a:gdLst/>
            <a:ahLst/>
            <a:cxnLst/>
            <a:rect r="r" b="b" t="t" l="l"/>
            <a:pathLst>
              <a:path h="1420797" w="4431336">
                <a:moveTo>
                  <a:pt x="0" y="0"/>
                </a:moveTo>
                <a:lnTo>
                  <a:pt x="4431335" y="0"/>
                </a:lnTo>
                <a:lnTo>
                  <a:pt x="4431335" y="1420797"/>
                </a:lnTo>
                <a:lnTo>
                  <a:pt x="0" y="1420797"/>
                </a:lnTo>
                <a:lnTo>
                  <a:pt x="0" y="0"/>
                </a:lnTo>
                <a:close/>
              </a:path>
            </a:pathLst>
          </a:custGeom>
          <a:blipFill>
            <a:blip r:embed="rId9"/>
            <a:stretch>
              <a:fillRect l="0" t="0" r="0" b="0"/>
            </a:stretch>
          </a:blipFill>
        </p:spPr>
      </p:sp>
      <p:pic>
        <p:nvPicPr>
          <p:cNvPr name="Picture 26" id="26"/>
          <p:cNvPicPr>
            <a:picLocks noChangeAspect="true"/>
          </p:cNvPicPr>
          <p:nvPr/>
        </p:nvPicPr>
        <p:blipFill>
          <a:blip r:embed="rId10"/>
          <a:srcRect l="0" t="0" r="0" b="0"/>
          <a:stretch>
            <a:fillRect/>
          </a:stretch>
        </p:blipFill>
        <p:spPr>
          <a:xfrm flipH="false" flipV="false" rot="619148">
            <a:off x="12480150" y="4074745"/>
            <a:ext cx="3702902" cy="3573301"/>
          </a:xfrm>
          <a:prstGeom prst="rect">
            <a:avLst/>
          </a:prstGeom>
        </p:spPr>
      </p:pic>
      <p:sp>
        <p:nvSpPr>
          <p:cNvPr name="TextBox 27" id="27"/>
          <p:cNvSpPr txBox="true"/>
          <p:nvPr/>
        </p:nvSpPr>
        <p:spPr>
          <a:xfrm rot="0">
            <a:off x="1028700" y="382145"/>
            <a:ext cx="8850302" cy="570865"/>
          </a:xfrm>
          <a:prstGeom prst="rect">
            <a:avLst/>
          </a:prstGeom>
        </p:spPr>
        <p:txBody>
          <a:bodyPr anchor="t" rtlCol="false" tIns="0" lIns="0" bIns="0" rIns="0">
            <a:spAutoFit/>
          </a:bodyPr>
          <a:lstStyle/>
          <a:p>
            <a:pPr algn="l">
              <a:lnSpc>
                <a:spcPts val="4759"/>
              </a:lnSpc>
              <a:spcBef>
                <a:spcPct val="0"/>
              </a:spcBef>
            </a:pPr>
            <a:r>
              <a:rPr lang="en-US" b="true" sz="3399" i="true">
                <a:solidFill>
                  <a:srgbClr val="061647"/>
                </a:solidFill>
                <a:latin typeface="Proxima Nova Heavy Italics"/>
                <a:ea typeface="Proxima Nova Heavy Italics"/>
                <a:cs typeface="Proxima Nova Heavy Italics"/>
                <a:sym typeface="Proxima Nova Heavy Italics"/>
              </a:rPr>
              <a:t>DEMO</a:t>
            </a:r>
          </a:p>
        </p:txBody>
      </p:sp>
      <p:sp>
        <p:nvSpPr>
          <p:cNvPr name="TextBox 28" id="28"/>
          <p:cNvSpPr txBox="true"/>
          <p:nvPr/>
        </p:nvSpPr>
        <p:spPr>
          <a:xfrm rot="1188773">
            <a:off x="4734120" y="4924739"/>
            <a:ext cx="2667358" cy="547375"/>
          </a:xfrm>
          <a:prstGeom prst="rect">
            <a:avLst/>
          </a:prstGeom>
        </p:spPr>
        <p:txBody>
          <a:bodyPr anchor="t" rtlCol="false" tIns="0" lIns="0" bIns="0" rIns="0">
            <a:spAutoFit/>
          </a:bodyPr>
          <a:lstStyle/>
          <a:p>
            <a:pPr algn="ctr">
              <a:lnSpc>
                <a:spcPts val="4165"/>
              </a:lnSpc>
            </a:pPr>
            <a:r>
              <a:rPr lang="en-US" b="true" sz="4004" u="sng">
                <a:solidFill>
                  <a:srgbClr val="061647"/>
                </a:solidFill>
                <a:latin typeface="Proxima Nova Heavy"/>
                <a:ea typeface="Proxima Nova Heavy"/>
                <a:cs typeface="Proxima Nova Heavy"/>
                <a:sym typeface="Proxima Nova Heavy"/>
              </a:rPr>
              <a:t>DEMO</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459" t="-630" r="-11425" b="-32015"/>
            </a:stretch>
          </a:blipFill>
        </p:spPr>
      </p:sp>
      <p:grpSp>
        <p:nvGrpSpPr>
          <p:cNvPr name="Group 3" id="3"/>
          <p:cNvGrpSpPr/>
          <p:nvPr/>
        </p:nvGrpSpPr>
        <p:grpSpPr>
          <a:xfrm rot="0">
            <a:off x="-158456" y="-367399"/>
            <a:ext cx="13041477" cy="11238567"/>
            <a:chOff x="0" y="0"/>
            <a:chExt cx="3434792" cy="2959952"/>
          </a:xfrm>
        </p:grpSpPr>
        <p:sp>
          <p:nvSpPr>
            <p:cNvPr name="Freeform 4" id="4"/>
            <p:cNvSpPr/>
            <p:nvPr/>
          </p:nvSpPr>
          <p:spPr>
            <a:xfrm flipH="false" flipV="false" rot="0">
              <a:off x="0" y="0"/>
              <a:ext cx="3434792" cy="2959952"/>
            </a:xfrm>
            <a:custGeom>
              <a:avLst/>
              <a:gdLst/>
              <a:ahLst/>
              <a:cxnLst/>
              <a:rect r="r" b="b" t="t" l="l"/>
              <a:pathLst>
                <a:path h="2959952" w="3434792">
                  <a:moveTo>
                    <a:pt x="0" y="0"/>
                  </a:moveTo>
                  <a:lnTo>
                    <a:pt x="3434792" y="0"/>
                  </a:lnTo>
                  <a:lnTo>
                    <a:pt x="3434792" y="2959952"/>
                  </a:lnTo>
                  <a:lnTo>
                    <a:pt x="0" y="2959952"/>
                  </a:lnTo>
                  <a:close/>
                </a:path>
              </a:pathLst>
            </a:custGeom>
            <a:gradFill rotWithShape="true">
              <a:gsLst>
                <a:gs pos="0">
                  <a:srgbClr val="002772">
                    <a:alpha val="100000"/>
                  </a:srgbClr>
                </a:gs>
                <a:gs pos="50000">
                  <a:srgbClr val="042B75">
                    <a:alpha val="100000"/>
                  </a:srgbClr>
                </a:gs>
                <a:gs pos="100000">
                  <a:srgbClr val="002872">
                    <a:alpha val="0"/>
                  </a:srgbClr>
                </a:gs>
              </a:gsLst>
              <a:lin ang="0"/>
            </a:gradFill>
          </p:spPr>
        </p:sp>
        <p:sp>
          <p:nvSpPr>
            <p:cNvPr name="TextBox 5" id="5"/>
            <p:cNvSpPr txBox="true"/>
            <p:nvPr/>
          </p:nvSpPr>
          <p:spPr>
            <a:xfrm>
              <a:off x="0" y="-38100"/>
              <a:ext cx="3434792" cy="299805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538578" y="3079324"/>
            <a:ext cx="9979041" cy="2565935"/>
          </a:xfrm>
          <a:prstGeom prst="rect">
            <a:avLst/>
          </a:prstGeom>
        </p:spPr>
        <p:txBody>
          <a:bodyPr anchor="t" rtlCol="false" tIns="0" lIns="0" bIns="0" rIns="0">
            <a:spAutoFit/>
          </a:bodyPr>
          <a:lstStyle/>
          <a:p>
            <a:pPr algn="l">
              <a:lnSpc>
                <a:spcPts val="10182"/>
              </a:lnSpc>
            </a:pPr>
            <a:r>
              <a:rPr lang="en-US" b="true" sz="8777">
                <a:solidFill>
                  <a:srgbClr val="FFFFFF"/>
                </a:solidFill>
                <a:latin typeface="Proxima Nova Heavy"/>
                <a:ea typeface="Proxima Nova Heavy"/>
                <a:cs typeface="Proxima Nova Heavy"/>
                <a:sym typeface="Proxima Nova Heavy"/>
              </a:rPr>
              <a:t>XIN</a:t>
            </a:r>
            <a:r>
              <a:rPr lang="en-US" b="true" sz="8777">
                <a:solidFill>
                  <a:srgbClr val="FFFFFF"/>
                </a:solidFill>
                <a:latin typeface="Proxima Nova Heavy"/>
                <a:ea typeface="Proxima Nova Heavy"/>
                <a:cs typeface="Proxima Nova Heavy"/>
                <a:sym typeface="Proxima Nova Heavy"/>
              </a:rPr>
              <a:t> TRÂN TRỌNG CẢM ƠN!</a:t>
            </a:r>
          </a:p>
        </p:txBody>
      </p:sp>
      <p:sp>
        <p:nvSpPr>
          <p:cNvPr name="TextBox 7" id="7"/>
          <p:cNvSpPr txBox="true"/>
          <p:nvPr/>
        </p:nvSpPr>
        <p:spPr>
          <a:xfrm rot="0">
            <a:off x="1538578" y="6540342"/>
            <a:ext cx="8543060" cy="1478822"/>
          </a:xfrm>
          <a:prstGeom prst="rect">
            <a:avLst/>
          </a:prstGeom>
        </p:spPr>
        <p:txBody>
          <a:bodyPr anchor="t" rtlCol="false" tIns="0" lIns="0" bIns="0" rIns="0">
            <a:spAutoFit/>
          </a:bodyPr>
          <a:lstStyle/>
          <a:p>
            <a:pPr algn="l">
              <a:lnSpc>
                <a:spcPts val="5848"/>
              </a:lnSpc>
            </a:pPr>
            <a:r>
              <a:rPr lang="en-US" b="true" sz="5042" i="true">
                <a:solidFill>
                  <a:srgbClr val="F1D7B6"/>
                </a:solidFill>
                <a:latin typeface="Proxima Nova Bold Italics"/>
                <a:ea typeface="Proxima Nova Bold Italics"/>
                <a:cs typeface="Proxima Nova Bold Italics"/>
                <a:sym typeface="Proxima Nova Bold Italics"/>
              </a:rPr>
              <a:t>Cảm ơn thầy và các bạn</a:t>
            </a:r>
            <a:r>
              <a:rPr lang="en-US" b="true" sz="5042" i="true">
                <a:solidFill>
                  <a:srgbClr val="F1D7B6"/>
                </a:solidFill>
                <a:latin typeface="Proxima Nova Bold Italics"/>
                <a:ea typeface="Proxima Nova Bold Italics"/>
                <a:cs typeface="Proxima Nova Bold Italics"/>
                <a:sym typeface="Proxima Nova Bold Italics"/>
              </a:rPr>
              <a:t> đã lắng nghe.</a:t>
            </a:r>
          </a:p>
        </p:txBody>
      </p:sp>
      <p:grpSp>
        <p:nvGrpSpPr>
          <p:cNvPr name="Group 8" id="8"/>
          <p:cNvGrpSpPr/>
          <p:nvPr/>
        </p:nvGrpSpPr>
        <p:grpSpPr>
          <a:xfrm rot="0">
            <a:off x="-204071" y="3524974"/>
            <a:ext cx="438110" cy="1780314"/>
            <a:chOff x="0" y="0"/>
            <a:chExt cx="115387" cy="468889"/>
          </a:xfrm>
        </p:grpSpPr>
        <p:sp>
          <p:nvSpPr>
            <p:cNvPr name="Freeform 9" id="9"/>
            <p:cNvSpPr/>
            <p:nvPr/>
          </p:nvSpPr>
          <p:spPr>
            <a:xfrm flipH="false" flipV="false" rot="0">
              <a:off x="0" y="0"/>
              <a:ext cx="115387" cy="468889"/>
            </a:xfrm>
            <a:custGeom>
              <a:avLst/>
              <a:gdLst/>
              <a:ahLst/>
              <a:cxnLst/>
              <a:rect r="r" b="b" t="t" l="l"/>
              <a:pathLst>
                <a:path h="468889" w="115387">
                  <a:moveTo>
                    <a:pt x="0" y="0"/>
                  </a:moveTo>
                  <a:lnTo>
                    <a:pt x="115387" y="0"/>
                  </a:lnTo>
                  <a:lnTo>
                    <a:pt x="115387" y="468889"/>
                  </a:lnTo>
                  <a:lnTo>
                    <a:pt x="0" y="468889"/>
                  </a:lnTo>
                  <a:close/>
                </a:path>
              </a:pathLst>
            </a:custGeom>
            <a:gradFill rotWithShape="true">
              <a:gsLst>
                <a:gs pos="0">
                  <a:srgbClr val="235BBB">
                    <a:alpha val="100000"/>
                  </a:srgbClr>
                </a:gs>
                <a:gs pos="100000">
                  <a:srgbClr val="347FFF">
                    <a:alpha val="100000"/>
                  </a:srgbClr>
                </a:gs>
              </a:gsLst>
              <a:lin ang="5400000"/>
            </a:gradFill>
          </p:spPr>
        </p:sp>
        <p:sp>
          <p:nvSpPr>
            <p:cNvPr name="TextBox 10" id="10"/>
            <p:cNvSpPr txBox="true"/>
            <p:nvPr/>
          </p:nvSpPr>
          <p:spPr>
            <a:xfrm>
              <a:off x="0" y="-38100"/>
              <a:ext cx="115387" cy="50698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361715" y="3524974"/>
            <a:ext cx="666985" cy="1780314"/>
            <a:chOff x="0" y="0"/>
            <a:chExt cx="175667" cy="468889"/>
          </a:xfrm>
        </p:grpSpPr>
        <p:sp>
          <p:nvSpPr>
            <p:cNvPr name="Freeform 12" id="12"/>
            <p:cNvSpPr/>
            <p:nvPr/>
          </p:nvSpPr>
          <p:spPr>
            <a:xfrm flipH="false" flipV="false" rot="0">
              <a:off x="0" y="0"/>
              <a:ext cx="175667" cy="468889"/>
            </a:xfrm>
            <a:custGeom>
              <a:avLst/>
              <a:gdLst/>
              <a:ahLst/>
              <a:cxnLst/>
              <a:rect r="r" b="b" t="t" l="l"/>
              <a:pathLst>
                <a:path h="468889" w="175667">
                  <a:moveTo>
                    <a:pt x="0" y="0"/>
                  </a:moveTo>
                  <a:lnTo>
                    <a:pt x="175667" y="0"/>
                  </a:lnTo>
                  <a:lnTo>
                    <a:pt x="175667" y="468889"/>
                  </a:lnTo>
                  <a:lnTo>
                    <a:pt x="0" y="468889"/>
                  </a:lnTo>
                  <a:close/>
                </a:path>
              </a:pathLst>
            </a:custGeom>
            <a:gradFill rotWithShape="true">
              <a:gsLst>
                <a:gs pos="0">
                  <a:srgbClr val="C08846">
                    <a:alpha val="100000"/>
                  </a:srgbClr>
                </a:gs>
                <a:gs pos="100000">
                  <a:srgbClr val="FFC87B">
                    <a:alpha val="100000"/>
                  </a:srgbClr>
                </a:gs>
              </a:gsLst>
              <a:lin ang="5400000"/>
            </a:gradFill>
          </p:spPr>
        </p:sp>
        <p:sp>
          <p:nvSpPr>
            <p:cNvPr name="TextBox 13" id="13"/>
            <p:cNvSpPr txBox="true"/>
            <p:nvPr/>
          </p:nvSpPr>
          <p:spPr>
            <a:xfrm>
              <a:off x="0" y="-38100"/>
              <a:ext cx="175667" cy="506989"/>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1456145">
            <a:off x="11669243" y="3780231"/>
            <a:ext cx="5062914" cy="1769228"/>
          </a:xfrm>
          <a:prstGeom prst="rect">
            <a:avLst/>
          </a:prstGeom>
        </p:spPr>
        <p:txBody>
          <a:bodyPr anchor="t" rtlCol="false" tIns="0" lIns="0" bIns="0" rIns="0">
            <a:spAutoFit/>
          </a:bodyPr>
          <a:lstStyle/>
          <a:p>
            <a:pPr algn="ctr">
              <a:lnSpc>
                <a:spcPts val="13805"/>
              </a:lnSpc>
            </a:pPr>
            <a:r>
              <a:rPr lang="en-US" sz="11900">
                <a:gradFill>
                  <a:gsLst>
                    <a:gs pos="0">
                      <a:srgbClr val="FFE4C2">
                        <a:alpha val="100000"/>
                      </a:srgbClr>
                    </a:gs>
                    <a:gs pos="100000">
                      <a:srgbClr val="87F8FF">
                        <a:alpha val="100000"/>
                      </a:srgbClr>
                    </a:gs>
                  </a:gsLst>
                  <a:lin ang="0"/>
                </a:gradFill>
                <a:latin typeface="Sprite Graffiti"/>
                <a:ea typeface="Sprite Graffiti"/>
                <a:cs typeface="Sprite Graffiti"/>
                <a:sym typeface="Sprite Graffiti"/>
              </a:rPr>
              <a:t>thank</a:t>
            </a:r>
            <a:r>
              <a:rPr lang="en-US" sz="11900">
                <a:gradFill>
                  <a:gsLst>
                    <a:gs pos="0">
                      <a:srgbClr val="FFE4C2">
                        <a:alpha val="100000"/>
                      </a:srgbClr>
                    </a:gs>
                    <a:gs pos="100000">
                      <a:srgbClr val="87F8FF">
                        <a:alpha val="100000"/>
                      </a:srgbClr>
                    </a:gs>
                  </a:gsLst>
                  <a:lin ang="0"/>
                </a:gradFill>
                <a:latin typeface="Sprite Graffiti"/>
                <a:ea typeface="Sprite Graffiti"/>
                <a:cs typeface="Sprite Graffiti"/>
                <a:sym typeface="Sprite Graffiti"/>
              </a:rPr>
              <a:t> you</a:t>
            </a:r>
          </a:p>
        </p:txBody>
      </p:sp>
      <p:sp>
        <p:nvSpPr>
          <p:cNvPr name="Freeform 15" id="15"/>
          <p:cNvSpPr/>
          <p:nvPr/>
        </p:nvSpPr>
        <p:spPr>
          <a:xfrm flipH="false" flipV="false" rot="0">
            <a:off x="14194828" y="0"/>
            <a:ext cx="4055736" cy="1300370"/>
          </a:xfrm>
          <a:custGeom>
            <a:avLst/>
            <a:gdLst/>
            <a:ahLst/>
            <a:cxnLst/>
            <a:rect r="r" b="b" t="t" l="l"/>
            <a:pathLst>
              <a:path h="1300370" w="4055736">
                <a:moveTo>
                  <a:pt x="0" y="0"/>
                </a:moveTo>
                <a:lnTo>
                  <a:pt x="4055735" y="0"/>
                </a:lnTo>
                <a:lnTo>
                  <a:pt x="4055735" y="1300370"/>
                </a:lnTo>
                <a:lnTo>
                  <a:pt x="0" y="1300370"/>
                </a:lnTo>
                <a:lnTo>
                  <a:pt x="0" y="0"/>
                </a:lnTo>
                <a:close/>
              </a:path>
            </a:pathLst>
          </a:custGeom>
          <a:blipFill>
            <a:blip r:embed="rId3"/>
            <a:stretch>
              <a:fillRect l="0" t="0" r="0" b="0"/>
            </a:stretch>
          </a:blipFill>
        </p:spPr>
      </p:sp>
    </p:spTree>
  </p:cSld>
  <p:clrMapOvr>
    <a:masterClrMapping/>
  </p:clrMapOvr>
  <p:transition spd="fast">
    <p:cover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DAHWBCtviKQ</dc:identifier>
  <dcterms:modified xsi:type="dcterms:W3CDTF">2011-08-01T06:04:30Z</dcterms:modified>
  <cp:revision>1</cp:revision>
  <dc:title>Thuyết trình vân tay</dc:title>
</cp:coreProperties>
</file>